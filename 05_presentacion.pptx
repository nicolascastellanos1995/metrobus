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  <p:sldMasterId id="2147483657" r:id="rId2"/>
  </p:sldMasterIdLst>
  <p:notesMasterIdLst>
    <p:notesMasterId r:id="rId13"/>
  </p:notesMasterIdLst>
  <p:sldIdLst>
    <p:sldId id="256" r:id="rId3"/>
    <p:sldId id="268" r:id="rId4"/>
    <p:sldId id="267" r:id="rId5"/>
    <p:sldId id="259" r:id="rId6"/>
    <p:sldId id="262" r:id="rId7"/>
    <p:sldId id="264" r:id="rId8"/>
    <p:sldId id="265" r:id="rId9"/>
    <p:sldId id="269" r:id="rId10"/>
    <p:sldId id="270" r:id="rId11"/>
    <p:sldId id="266" r:id="rId12"/>
  </p:sldIdLst>
  <p:sldSz cx="9144000" cy="5143500" type="screen16x9"/>
  <p:notesSz cx="6858000" cy="9144000"/>
  <p:embeddedFontLst>
    <p:embeddedFont>
      <p:font typeface="Poppins Light" panose="020B0604020202020204" charset="0"/>
      <p:regular r:id="rId14"/>
      <p:bold r:id="rId15"/>
      <p:italic r:id="rId16"/>
      <p:boldItalic r:id="rId17"/>
    </p:embeddedFont>
    <p:embeddedFont>
      <p:font typeface="Poppins SemiBold" panose="020B0604020202020204" charset="0"/>
      <p:regular r:id="rId18"/>
      <p:bold r:id="rId19"/>
      <p:italic r:id="rId20"/>
      <p:boldItalic r:id="rId21"/>
    </p:embeddedFont>
    <p:embeddedFont>
      <p:font typeface="Poppins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78" autoAdjust="0"/>
  </p:normalViewPr>
  <p:slideViewPr>
    <p:cSldViewPr snapToGrid="0">
      <p:cViewPr varScale="1">
        <p:scale>
          <a:sx n="120" d="100"/>
          <a:sy n="120" d="100"/>
        </p:scale>
        <p:origin x="374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9a4c1cfc6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79a4c1cfc6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9a4c1cfc6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79a4c1cfc6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endParaRPr sz="400"/>
          </a:p>
        </p:txBody>
      </p:sp>
    </p:spTree>
    <p:extLst>
      <p:ext uri="{BB962C8B-B14F-4D97-AF65-F5344CB8AC3E}">
        <p14:creationId xmlns:p14="http://schemas.microsoft.com/office/powerpoint/2010/main" val="1274396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9a4c1cfc6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9a4c1cfc6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tabla - columna del título, nível de la titulación -- FP, Grado, Master -- estimación de necesidades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34729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9a4c1cfc6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9a4c1cfc6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a4c1cfc6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9a4c1cfc6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9a4c1cfc6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9a4c1cfc6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tabla - columna del título, nível de la titulación -- FP, Grado, Master -- estimación de necesidades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9a4c1cfc6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79a4c1cfc6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endParaRPr sz="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9a4c1cfc6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79a4c1cfc6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endParaRPr sz="400"/>
          </a:p>
        </p:txBody>
      </p:sp>
    </p:spTree>
    <p:extLst>
      <p:ext uri="{BB962C8B-B14F-4D97-AF65-F5344CB8AC3E}">
        <p14:creationId xmlns:p14="http://schemas.microsoft.com/office/powerpoint/2010/main" val="3281797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9a4c1cfc6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79a4c1cfc6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endParaRPr sz="400"/>
          </a:p>
        </p:txBody>
      </p:sp>
    </p:spTree>
    <p:extLst>
      <p:ext uri="{BB962C8B-B14F-4D97-AF65-F5344CB8AC3E}">
        <p14:creationId xmlns:p14="http://schemas.microsoft.com/office/powerpoint/2010/main" val="2622891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9a4c1cfc6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79a4c1cfc6_0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 type="title">
  <p:cSld name="TITLE">
    <p:bg>
      <p:bgPr>
        <a:solidFill>
          <a:schemeClr val="lt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e seccion" type="secHead">
  <p:cSld name="SECTION_HEADER">
    <p:bg>
      <p:bgPr>
        <a:solidFill>
          <a:schemeClr val="lt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ice" type="tx">
  <p:cSld name="TITLE_AND_BODY">
    <p:bg>
      <p:bgPr>
        <a:solidFill>
          <a:schemeClr val="lt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Blanco">
  <p:cSld name="5. Blanco">
    <p:bg>
      <p:bgPr>
        <a:solidFill>
          <a:schemeClr val="lt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"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>
  <p:cSld name="TITLE_1">
    <p:bg>
      <p:bgPr>
        <a:solidFill>
          <a:schemeClr val="lt2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1" title="portrait-of-happy-college-student-in-the-classroom-2024-12-13-17-08-26-utc.jpg"/>
          <p:cNvPicPr preferRelativeResize="0"/>
          <p:nvPr/>
        </p:nvPicPr>
        <p:blipFill rotWithShape="1">
          <a:blip r:embed="rId3">
            <a:alphaModFix/>
          </a:blip>
          <a:srcRect t="6247" b="6247"/>
          <a:stretch/>
        </p:blipFill>
        <p:spPr>
          <a:xfrm>
            <a:off x="0" y="-9300"/>
            <a:ext cx="9144003" cy="5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1"/>
          <p:cNvSpPr/>
          <p:nvPr/>
        </p:nvSpPr>
        <p:spPr>
          <a:xfrm>
            <a:off x="0" y="0"/>
            <a:ext cx="9144000" cy="5333100"/>
          </a:xfrm>
          <a:prstGeom prst="rect">
            <a:avLst/>
          </a:prstGeom>
          <a:solidFill>
            <a:srgbClr val="152A1D">
              <a:alpha val="686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1"/>
          <p:cNvSpPr/>
          <p:nvPr/>
        </p:nvSpPr>
        <p:spPr>
          <a:xfrm rot="10800000">
            <a:off x="7782000" y="367900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28575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" name="Google Shape;27;p11"/>
          <p:cNvSpPr/>
          <p:nvPr/>
        </p:nvSpPr>
        <p:spPr>
          <a:xfrm>
            <a:off x="381075" y="3949313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28575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" name="Google Shape;28;p11"/>
          <p:cNvSpPr txBox="1"/>
          <p:nvPr/>
        </p:nvSpPr>
        <p:spPr>
          <a:xfrm>
            <a:off x="833400" y="2087703"/>
            <a:ext cx="8133300" cy="124133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" lvl="0" indent="0" algn="l" rtl="0">
              <a:lnSpc>
                <a:spcPct val="100000"/>
              </a:lnSpc>
              <a:spcBef>
                <a:spcPts val="700"/>
              </a:spcBef>
              <a:spcAft>
                <a:spcPts val="10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s" sz="6200" dirty="0" smtClean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MetroBus</a:t>
            </a:r>
            <a:endParaRPr sz="6200" i="0" u="none" strike="noStrike" cap="none" dirty="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9" name="Google Shape;29;p11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5100" y="367900"/>
            <a:ext cx="2473800" cy="3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/>
        </p:nvSpPr>
        <p:spPr>
          <a:xfrm>
            <a:off x="532122" y="157959"/>
            <a:ext cx="4731102" cy="127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dirty="0" smtClean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Objetivo de estudio</a:t>
            </a:r>
            <a:endParaRPr sz="37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80074" y="981467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CuadroTexto 3"/>
          <p:cNvSpPr txBox="1"/>
          <p:nvPr/>
        </p:nvSpPr>
        <p:spPr>
          <a:xfrm>
            <a:off x="680074" y="1781394"/>
            <a:ext cx="79160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/>
              <a:t>¿Dónde y cuándo se concentran los retrasos</a:t>
            </a:r>
            <a:r>
              <a:rPr lang="es-ES" sz="1800" dirty="0" smtClean="0"/>
              <a:t>?</a:t>
            </a:r>
          </a:p>
          <a:p>
            <a:endParaRPr lang="es-ES" sz="1800" dirty="0" smtClean="0"/>
          </a:p>
          <a:p>
            <a:r>
              <a:rPr lang="es-ES" sz="1800" dirty="0"/>
              <a:t>¿Qué incidencias generan mayor impacto</a:t>
            </a:r>
            <a:r>
              <a:rPr lang="es-ES" sz="1800" dirty="0" smtClean="0"/>
              <a:t>?</a:t>
            </a:r>
          </a:p>
          <a:p>
            <a:endParaRPr lang="es-ES" sz="1800" dirty="0" smtClean="0"/>
          </a:p>
          <a:p>
            <a:r>
              <a:rPr lang="es-ES" sz="1800" dirty="0"/>
              <a:t>¿Qué vehículos y mantenimientos afectan más a la disponibilidad y los costes</a:t>
            </a:r>
            <a:r>
              <a:rPr lang="es-ES" sz="1800" dirty="0" smtClean="0"/>
              <a:t>?</a:t>
            </a:r>
          </a:p>
          <a:p>
            <a:endParaRPr lang="es-ES" sz="1800" dirty="0"/>
          </a:p>
          <a:p>
            <a:r>
              <a:rPr lang="es-ES" sz="1800" dirty="0"/>
              <a:t>¿Cómo se distribuyen la actividad y las incidencias entre los conductores?</a:t>
            </a: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952223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/>
        </p:nvSpPr>
        <p:spPr>
          <a:xfrm>
            <a:off x="578774" y="230775"/>
            <a:ext cx="6199915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3300" dirty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¿Dónde se concentran los retrasos de la red?</a:t>
            </a:r>
            <a:endParaRPr sz="37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ángulo 1"/>
          <p:cNvSpPr/>
          <p:nvPr/>
        </p:nvSpPr>
        <p:spPr>
          <a:xfrm>
            <a:off x="4425809" y="1797374"/>
            <a:ext cx="431074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/>
              <a:t>Durante la </a:t>
            </a:r>
            <a:r>
              <a:rPr lang="es-ES" sz="1600" b="1" dirty="0"/>
              <a:t>hora punta de mañana</a:t>
            </a:r>
            <a:r>
              <a:rPr lang="es-ES" sz="1600" dirty="0"/>
              <a:t>, la línea </a:t>
            </a:r>
            <a:r>
              <a:rPr lang="es-ES" sz="1600" b="1" dirty="0"/>
              <a:t>L1</a:t>
            </a:r>
            <a:r>
              <a:rPr lang="es-ES" sz="1600" dirty="0"/>
              <a:t> presenta sus mayores retrasos en </a:t>
            </a:r>
            <a:r>
              <a:rPr lang="es-ES" sz="1600" b="1" dirty="0"/>
              <a:t>Barrio Sur 2</a:t>
            </a:r>
            <a:r>
              <a:rPr lang="es-ES" sz="1600" dirty="0"/>
              <a:t>, con </a:t>
            </a:r>
            <a:r>
              <a:rPr lang="es-ES" sz="1600" b="1" dirty="0"/>
              <a:t>11,6 minutos</a:t>
            </a:r>
            <a:r>
              <a:rPr lang="es-ES" sz="1600" dirty="0"/>
              <a:t>, y </a:t>
            </a:r>
            <a:r>
              <a:rPr lang="es-ES" sz="1600" b="1" dirty="0"/>
              <a:t>Barrio Sur 13</a:t>
            </a:r>
            <a:r>
              <a:rPr lang="es-ES" sz="1600" dirty="0"/>
              <a:t>, con </a:t>
            </a:r>
            <a:r>
              <a:rPr lang="es-ES" sz="1600" b="1" dirty="0"/>
              <a:t>10,1 minutos</a:t>
            </a:r>
            <a:r>
              <a:rPr lang="es-ES" sz="1600" dirty="0"/>
              <a:t>. </a:t>
            </a:r>
          </a:p>
          <a:p>
            <a:r>
              <a:rPr lang="es-ES" sz="1600" dirty="0"/>
              <a:t>En la </a:t>
            </a:r>
            <a:r>
              <a:rPr lang="es-ES" sz="1600" b="1" dirty="0"/>
              <a:t>hora punta de tarde</a:t>
            </a:r>
            <a:r>
              <a:rPr lang="es-ES" sz="1600" dirty="0"/>
              <a:t>, destaca la parada </a:t>
            </a:r>
            <a:r>
              <a:rPr lang="es-ES" sz="1600" b="1" dirty="0"/>
              <a:t>Aeropuerto 19</a:t>
            </a:r>
            <a:r>
              <a:rPr lang="es-ES" sz="1600" dirty="0"/>
              <a:t>, con un retraso medio de aproximadamente </a:t>
            </a:r>
            <a:r>
              <a:rPr lang="es-ES" sz="1600" b="1" dirty="0"/>
              <a:t>9 minutos</a:t>
            </a:r>
            <a:r>
              <a:rPr lang="es-ES" sz="1600" dirty="0" smtClean="0"/>
              <a:t>.</a:t>
            </a:r>
          </a:p>
          <a:p>
            <a:endParaRPr lang="es-ES" sz="1600" dirty="0"/>
          </a:p>
          <a:p>
            <a:r>
              <a:rPr lang="es-ES" sz="1600" dirty="0" smtClean="0"/>
              <a:t>Los </a:t>
            </a:r>
            <a:r>
              <a:rPr lang="es-ES" sz="1600" dirty="0"/>
              <a:t>retrasos </a:t>
            </a:r>
            <a:r>
              <a:rPr lang="es-ES" sz="1600" b="1" dirty="0"/>
              <a:t>no se distribuyen de forma uniforme durante el día</a:t>
            </a:r>
            <a:r>
              <a:rPr lang="es-ES" sz="1600" dirty="0"/>
              <a:t>, sino que aparecen puntos críticos diferentes según el periodo analizado.</a:t>
            </a:r>
          </a:p>
          <a:p>
            <a:pPr lvl="0"/>
            <a:endParaRPr lang="es-ES" sz="16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04" y="1797374"/>
            <a:ext cx="3157372" cy="152187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04" y="3394531"/>
            <a:ext cx="3157372" cy="154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2546221" y="1230024"/>
            <a:ext cx="767490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ES" sz="1200" dirty="0"/>
              <a:t>La frecuencia de una incidencia no determina su impacto económico</a:t>
            </a:r>
            <a:endParaRPr sz="1800" dirty="0">
              <a:solidFill>
                <a:srgbClr val="223C4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802289" y="3651007"/>
            <a:ext cx="4562813" cy="1451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ES" sz="1200" dirty="0" smtClean="0"/>
              <a:t>Las condiciones meteorológicas son el tipo de incidencia más frecuente, mientras que los accidentes graves concentran claramente el mayor coste estimado. Esto puede deberse a los altos costos de indemnizaciones en caso de accidentes.</a:t>
            </a:r>
            <a:endParaRPr sz="100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96674" y="509080"/>
            <a:ext cx="8084700" cy="97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3200" dirty="0"/>
              <a:t>¿Qué incidencias generan mayor impacto?</a:t>
            </a:r>
          </a:p>
        </p:txBody>
      </p:sp>
      <p:sp>
        <p:nvSpPr>
          <p:cNvPr id="72" name="Google Shape;72;p14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14" title="logo verde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416" y="3163078"/>
            <a:ext cx="3316273" cy="171581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89" y="1678843"/>
            <a:ext cx="4179354" cy="1724461"/>
          </a:xfrm>
          <a:prstGeom prst="rect">
            <a:avLst/>
          </a:prstGeom>
        </p:spPr>
      </p:pic>
      <p:sp>
        <p:nvSpPr>
          <p:cNvPr id="9" name="Google Shape;70;p14"/>
          <p:cNvSpPr txBox="1"/>
          <p:nvPr/>
        </p:nvSpPr>
        <p:spPr>
          <a:xfrm>
            <a:off x="5150498" y="1790876"/>
            <a:ext cx="3671596" cy="1612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s-ES" sz="1050" dirty="0"/>
              <a:t>Las incidencias por cada 1.000 viajes presentan diferencias moderadas entre líneas, con valores aproximados entre 75 y 84. Esto indica que las incidencias no se concentran exclusivamente en una única línea, aunque algunas presentan una tasa ligeramente superior.</a:t>
            </a:r>
            <a:endParaRPr sz="1050" dirty="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667944" y="1401758"/>
            <a:ext cx="3514500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1600" dirty="0" smtClean="0"/>
              <a:t>Los coches eléctricos presentan un mayor costo de mantenimiento por kilometro recorrido.</a:t>
            </a:r>
            <a:endParaRPr sz="16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694070" y="967471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17" title="logo bl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27" y="2561253"/>
            <a:ext cx="3069494" cy="2175010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0376" y="504162"/>
            <a:ext cx="77380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¿Qué vehículos y mantenimientos generan mayor impacto sobre la flota?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434" y="1503566"/>
            <a:ext cx="3951312" cy="1790855"/>
          </a:xfrm>
          <a:prstGeom prst="rect">
            <a:avLst/>
          </a:prstGeom>
        </p:spPr>
      </p:pic>
      <p:sp>
        <p:nvSpPr>
          <p:cNvPr id="9" name="Google Shape;143;p17"/>
          <p:cNvSpPr txBox="1"/>
          <p:nvPr/>
        </p:nvSpPr>
        <p:spPr>
          <a:xfrm>
            <a:off x="4020094" y="3409963"/>
            <a:ext cx="4829992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1600" dirty="0" smtClean="0"/>
              <a:t>Los mantenimientos preventivos son la principal causa de los servicios.</a:t>
            </a:r>
          </a:p>
          <a:p>
            <a:pPr lvl="0"/>
            <a:endParaRPr lang="es-ES" sz="1600" dirty="0"/>
          </a:p>
          <a:p>
            <a:pPr lvl="0"/>
            <a:r>
              <a:rPr lang="es-ES" sz="1600" dirty="0" smtClean="0"/>
              <a:t>Las reparaciones de motor son las que generan mayor impacto en la flota</a:t>
            </a:r>
          </a:p>
          <a:p>
            <a:pPr lvl="0"/>
            <a:endParaRPr lang="es-ES" sz="16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lvl="0"/>
            <a:endParaRPr sz="16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/>
        </p:nvSpPr>
        <p:spPr>
          <a:xfrm>
            <a:off x="550783" y="207644"/>
            <a:ext cx="8261980" cy="66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1800" dirty="0"/>
              <a:t>¿Cómo se distribuyen la actividad y las incidencias entre los conductores?</a:t>
            </a:r>
            <a:endParaRPr lang="es-ES" sz="1800" dirty="0"/>
          </a:p>
        </p:txBody>
      </p:sp>
      <p:sp>
        <p:nvSpPr>
          <p:cNvPr id="204" name="Google Shape;204;p19"/>
          <p:cNvSpPr/>
          <p:nvPr/>
        </p:nvSpPr>
        <p:spPr>
          <a:xfrm>
            <a:off x="684350" y="766150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190152" y="1702483"/>
            <a:ext cx="286449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 smtClean="0">
                <a:solidFill>
                  <a:schemeClr val="tx1"/>
                </a:solidFill>
                <a:latin typeface="Arial" panose="020B0604020202020204" pitchFamily="34" charset="0"/>
              </a:rPr>
              <a:t>En promedio un conductor realiza cerca de 600 viajes al año y tiene entre 45 y 50 incidentes.</a:t>
            </a:r>
            <a:endParaRPr kumimoji="0" lang="es-ES" altLang="es-E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166" y="3228393"/>
            <a:ext cx="4772609" cy="1730852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830424" y="3684955"/>
            <a:ext cx="28411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Beatriz Ortega registra la mayor tasa de incidencias por cada 100 viajes pese a pertenecer al grupo de mayor antigüedad.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54" y="1581991"/>
            <a:ext cx="4273079" cy="150024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9969" y="712552"/>
            <a:ext cx="1771804" cy="53344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649" y="712552"/>
            <a:ext cx="1752752" cy="5524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088" y="704931"/>
            <a:ext cx="1760373" cy="560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/>
        </p:nvSpPr>
        <p:spPr>
          <a:xfrm>
            <a:off x="532122" y="157959"/>
            <a:ext cx="3514500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dirty="0" smtClean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Conclusiones</a:t>
            </a:r>
            <a:endParaRPr sz="37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80074" y="981467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CuadroTexto 3"/>
          <p:cNvSpPr txBox="1"/>
          <p:nvPr/>
        </p:nvSpPr>
        <p:spPr>
          <a:xfrm>
            <a:off x="611155" y="1147665"/>
            <a:ext cx="80383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Frecuencia e impacto económico de las incidencias no coinciden.</a:t>
            </a:r>
            <a:r>
              <a:rPr lang="es-ES" dirty="0"/>
              <a:t> Las condiciones meteorológicas son las incidencias más frecuentes, mientras que los </a:t>
            </a:r>
            <a:r>
              <a:rPr lang="es-ES" b="1" dirty="0"/>
              <a:t>accidentes graves concentran el mayor coste estimado</a:t>
            </a:r>
            <a:r>
              <a:rPr lang="es-ES" dirty="0"/>
              <a:t>, con aproximadamente </a:t>
            </a:r>
            <a:r>
              <a:rPr lang="es-ES" b="1" dirty="0"/>
              <a:t>2,78 </a:t>
            </a:r>
            <a:r>
              <a:rPr lang="es-ES" b="1" dirty="0" smtClean="0"/>
              <a:t>M€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b="1" dirty="0"/>
              <a:t>El mantenimiento afecta de forma desigual a la disponibilidad de la flota.</a:t>
            </a:r>
            <a:r>
              <a:rPr lang="es-ES" dirty="0"/>
              <a:t> Las </a:t>
            </a:r>
            <a:r>
              <a:rPr lang="es-ES" b="1" dirty="0"/>
              <a:t>reparaciones de motor</a:t>
            </a:r>
            <a:r>
              <a:rPr lang="es-ES" dirty="0"/>
              <a:t> son las intervenciones con mayor impacto operativo, acumulando </a:t>
            </a:r>
            <a:r>
              <a:rPr lang="es-ES" b="1" dirty="0"/>
              <a:t>208 días fuera de servicio</a:t>
            </a:r>
            <a:r>
              <a:rPr lang="es-ES" dirty="0"/>
              <a:t>, muy por encima del resto</a:t>
            </a:r>
            <a:r>
              <a:rPr lang="es-ES" dirty="0" smtClean="0"/>
              <a:t>.</a:t>
            </a:r>
          </a:p>
          <a:p>
            <a:endParaRPr lang="es-ES" dirty="0" smtClean="0"/>
          </a:p>
          <a:p>
            <a:r>
              <a:rPr lang="es-ES" b="1" dirty="0" smtClean="0"/>
              <a:t>Los </a:t>
            </a:r>
            <a:r>
              <a:rPr lang="es-ES" b="1" dirty="0"/>
              <a:t>retrasos presentan puntos críticos específicos según el momento del día.</a:t>
            </a:r>
            <a:r>
              <a:rPr lang="es-ES" dirty="0"/>
              <a:t> En hora punta de mañana destacan la </a:t>
            </a:r>
            <a:r>
              <a:rPr lang="es-ES" b="1" dirty="0"/>
              <a:t>L1 en Barrio Sur 2 (11,6 min) y Barrio Sur 13 (10,1 min)</a:t>
            </a:r>
            <a:r>
              <a:rPr lang="es-ES" dirty="0"/>
              <a:t>, mientras que en la punta de tarde destaca </a:t>
            </a:r>
            <a:r>
              <a:rPr lang="es-ES" b="1" dirty="0"/>
              <a:t>Aeropuerto 19 (9 min)</a:t>
            </a:r>
            <a:r>
              <a:rPr lang="es-ES" dirty="0"/>
              <a:t>. Por tanto, el promedio general puede ocultar problemas localizados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ES" b="1" dirty="0"/>
              <a:t>La experiencia de los conductores no muestra por sí sola una relación directa con una menor tasa de incidencias.</a:t>
            </a:r>
            <a:r>
              <a:rPr lang="es-ES" dirty="0"/>
              <a:t> </a:t>
            </a:r>
            <a:r>
              <a:rPr lang="es-ES" b="1" dirty="0"/>
              <a:t>Beatriz Ortega</a:t>
            </a:r>
            <a:r>
              <a:rPr lang="es-ES" dirty="0"/>
              <a:t>, perteneciente al grupo de mayor antigüedad, presenta la mayor tasa de incidencias por cada 100 viajes. Las incidencias asociadas no implican necesariamente responsabilidad del conductor.</a:t>
            </a:r>
            <a:endParaRPr lang="es-ES" dirty="0"/>
          </a:p>
          <a:p>
            <a:endParaRPr lang="es-E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/>
        </p:nvSpPr>
        <p:spPr>
          <a:xfrm>
            <a:off x="532122" y="157959"/>
            <a:ext cx="4255778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dirty="0" smtClean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Recomendaciones</a:t>
            </a:r>
            <a:endParaRPr sz="37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80074" y="981467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CuadroTexto 3"/>
          <p:cNvSpPr txBox="1"/>
          <p:nvPr/>
        </p:nvSpPr>
        <p:spPr>
          <a:xfrm>
            <a:off x="611155" y="1147665"/>
            <a:ext cx="803832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Priorizar el seguimiento de las combinaciones </a:t>
            </a:r>
            <a:r>
              <a:rPr lang="es-ES" b="1" dirty="0"/>
              <a:t>línea + parada + franja horaria</a:t>
            </a:r>
            <a:r>
              <a:rPr lang="es-ES" dirty="0"/>
              <a:t> con mayores retrasos, especialmente los puntos identificados en las horas punta. Esto evita tomar decisiones basadas únicamente en el retraso promedio de toda la red.</a:t>
            </a:r>
            <a:endParaRPr lang="es-ES" dirty="0"/>
          </a:p>
          <a:p>
            <a:endParaRPr lang="es-ES" dirty="0" smtClean="0"/>
          </a:p>
          <a:p>
            <a:r>
              <a:rPr lang="es-ES" dirty="0"/>
              <a:t>Evaluar las incidencias utilizando conjuntamente </a:t>
            </a:r>
            <a:r>
              <a:rPr lang="es-ES" b="1" dirty="0"/>
              <a:t>número de eventos y coste estimado</a:t>
            </a:r>
            <a:r>
              <a:rPr lang="es-ES" dirty="0"/>
              <a:t>. Las incidencias frecuentes requieren seguimiento operativo, mientras que eventos menos frecuentes pero de elevado coste, como los accidentes graves, requieren medidas específicas de prevención y gestión del riesgo.</a:t>
            </a:r>
            <a:endParaRPr lang="es-ES" dirty="0" smtClean="0"/>
          </a:p>
          <a:p>
            <a:endParaRPr lang="es-ES" dirty="0"/>
          </a:p>
          <a:p>
            <a:r>
              <a:rPr lang="es-ES" dirty="0"/>
              <a:t>Reforzar el mantenimiento preventivo y el seguimiento de los vehículos que concentran mayores costes, prestando especial atención a las </a:t>
            </a:r>
            <a:r>
              <a:rPr lang="es-ES" b="1" dirty="0"/>
              <a:t>reparaciones de motor</a:t>
            </a:r>
            <a:r>
              <a:rPr lang="es-ES" dirty="0"/>
              <a:t>, ya que son las que acumulan más días fuera de servicio.</a:t>
            </a:r>
            <a:endParaRPr lang="es-ES" dirty="0"/>
          </a:p>
          <a:p>
            <a:endParaRPr lang="es-ES" dirty="0" smtClean="0"/>
          </a:p>
          <a:p>
            <a:r>
              <a:rPr lang="es-ES" dirty="0"/>
              <a:t>Monitorizar la </a:t>
            </a:r>
            <a:r>
              <a:rPr lang="es-ES" b="1" dirty="0"/>
              <a:t>tasa de incidencias por cada 100 viajes</a:t>
            </a:r>
            <a:r>
              <a:rPr lang="es-ES" dirty="0"/>
              <a:t> en lugar del número absoluto, incorporando también el tipo de incidencia, línea, turno y condiciones operativas antes de atribuir diferencias al conductor.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3601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/>
        </p:nvSpPr>
        <p:spPr>
          <a:xfrm>
            <a:off x="532122" y="157959"/>
            <a:ext cx="6846578" cy="13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dirty="0" smtClean="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Limitaciones y próximos Pasos</a:t>
            </a:r>
            <a:endParaRPr sz="3700" dirty="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80074" y="981467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CuadroTexto 3"/>
          <p:cNvSpPr txBox="1"/>
          <p:nvPr/>
        </p:nvSpPr>
        <p:spPr>
          <a:xfrm>
            <a:off x="604805" y="1176482"/>
            <a:ext cx="80383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Limitaciones del </a:t>
            </a:r>
            <a:r>
              <a:rPr lang="es-ES" b="1" dirty="0" smtClean="0"/>
              <a:t>análisis</a:t>
            </a:r>
          </a:p>
          <a:p>
            <a:endParaRPr lang="es-ES" b="1" dirty="0" smtClean="0"/>
          </a:p>
          <a:p>
            <a:r>
              <a:rPr lang="es-ES" dirty="0"/>
              <a:t>El consumo no permite comparar directamente la eficiencia entre tipos de combustible si las </a:t>
            </a:r>
            <a:r>
              <a:rPr lang="es-ES" b="1" dirty="0"/>
              <a:t>unidades de consumo no son equivalentes</a:t>
            </a:r>
            <a:r>
              <a:rPr lang="es-ES" dirty="0"/>
              <a:t> entre vehículos eléctricos, diésel e híbridos</a:t>
            </a:r>
            <a:r>
              <a:rPr lang="es-ES" dirty="0" smtClean="0"/>
              <a:t>.</a:t>
            </a:r>
          </a:p>
          <a:p>
            <a:endParaRPr lang="es-ES" b="1" dirty="0"/>
          </a:p>
          <a:p>
            <a:r>
              <a:rPr lang="es-ES" dirty="0"/>
              <a:t>La tarifa disponible corresponde a la </a:t>
            </a:r>
            <a:r>
              <a:rPr lang="es-ES" b="1" dirty="0"/>
              <a:t>tarifa predominante del viaje</a:t>
            </a:r>
            <a:r>
              <a:rPr lang="es-ES" dirty="0"/>
              <a:t>, no a la tarifa individual de cada pasajero; por tanto, cualquier cálculo de ingresos debe interpretarse como una </a:t>
            </a:r>
            <a:r>
              <a:rPr lang="es-ES" b="1" dirty="0"/>
              <a:t>estimación</a:t>
            </a:r>
            <a:r>
              <a:rPr lang="es-ES" dirty="0" smtClean="0"/>
              <a:t>.</a:t>
            </a:r>
          </a:p>
          <a:p>
            <a:endParaRPr lang="es-ES" b="1" dirty="0"/>
          </a:p>
          <a:p>
            <a:r>
              <a:rPr lang="es-ES" b="1" dirty="0"/>
              <a:t>Próximos </a:t>
            </a:r>
            <a:r>
              <a:rPr lang="es-ES" b="1" dirty="0" smtClean="0"/>
              <a:t>pasos</a:t>
            </a:r>
          </a:p>
          <a:p>
            <a:endParaRPr lang="es-ES" b="1" dirty="0"/>
          </a:p>
          <a:p>
            <a:r>
              <a:rPr lang="es-ES" dirty="0"/>
              <a:t>Analizar tiempos reales entre paradas para localizar con mayor precisión </a:t>
            </a:r>
            <a:r>
              <a:rPr lang="es-ES" b="1" dirty="0"/>
              <a:t>en qué tramos de cada línea se generan los retrasos</a:t>
            </a:r>
            <a:r>
              <a:rPr lang="es-ES" dirty="0" smtClean="0"/>
              <a:t>.</a:t>
            </a:r>
          </a:p>
          <a:p>
            <a:endParaRPr lang="es-ES" b="1" dirty="0"/>
          </a:p>
          <a:p>
            <a:r>
              <a:rPr lang="es-ES" dirty="0"/>
              <a:t>Incorporar historial de averías, kilometraje y componentes para desarrollar indicadores orientados al </a:t>
            </a:r>
            <a:r>
              <a:rPr lang="es-ES" b="1" dirty="0"/>
              <a:t>mantenimiento predictivo</a:t>
            </a:r>
            <a:r>
              <a:rPr lang="es-ES" dirty="0"/>
              <a:t>.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545664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1" title="female-college-student-looking-back-at-camera-walk-2025-01-10-03-12-56-utc.jpg"/>
          <p:cNvPicPr preferRelativeResize="0"/>
          <p:nvPr/>
        </p:nvPicPr>
        <p:blipFill rotWithShape="1">
          <a:blip r:embed="rId3">
            <a:alphaModFix/>
          </a:blip>
          <a:srcRect t="6247" b="6247"/>
          <a:stretch/>
        </p:blipFill>
        <p:spPr>
          <a:xfrm>
            <a:off x="0" y="-9300"/>
            <a:ext cx="9144003" cy="5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0" y="-9300"/>
            <a:ext cx="9144000" cy="5333100"/>
          </a:xfrm>
          <a:prstGeom prst="rect">
            <a:avLst/>
          </a:prstGeom>
          <a:solidFill>
            <a:srgbClr val="152A1D">
              <a:alpha val="686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1"/>
          <p:cNvSpPr/>
          <p:nvPr/>
        </p:nvSpPr>
        <p:spPr>
          <a:xfrm rot="10800000">
            <a:off x="7782000" y="367900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28575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" name="Google Shape;230;p21"/>
          <p:cNvSpPr/>
          <p:nvPr/>
        </p:nvSpPr>
        <p:spPr>
          <a:xfrm>
            <a:off x="381075" y="3949313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28575" cap="flat" cmpd="sng">
            <a:solidFill>
              <a:srgbClr val="E6945A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231" name="Google Shape;231;p21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7638" y="2331025"/>
            <a:ext cx="3968725" cy="4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152A1D"/>
      </a:dk1>
      <a:lt1>
        <a:srgbClr val="FFFFFF"/>
      </a:lt1>
      <a:dk2>
        <a:srgbClr val="595959"/>
      </a:dk2>
      <a:lt2>
        <a:srgbClr val="EEEEEE"/>
      </a:lt2>
      <a:accent1>
        <a:srgbClr val="E6945A"/>
      </a:accent1>
      <a:accent2>
        <a:srgbClr val="212121"/>
      </a:accent2>
      <a:accent3>
        <a:srgbClr val="78909C"/>
      </a:accent3>
      <a:accent4>
        <a:srgbClr val="FFAB40"/>
      </a:accent4>
      <a:accent5>
        <a:srgbClr val="E6945A"/>
      </a:accent5>
      <a:accent6>
        <a:srgbClr val="E6945A"/>
      </a:accent6>
      <a:hlink>
        <a:srgbClr val="E69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822</Words>
  <Application>Microsoft Office PowerPoint</Application>
  <PresentationFormat>Presentación en pantalla (16:9)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Poppins Light</vt:lpstr>
      <vt:lpstr>Arial</vt:lpstr>
      <vt:lpstr>Poppins SemiBold</vt:lpstr>
      <vt:lpstr>Poppins</vt:lpstr>
      <vt:lpstr>Simple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CAstellanos</dc:creator>
  <cp:lastModifiedBy>Nicolas CAstellanos</cp:lastModifiedBy>
  <cp:revision>23</cp:revision>
  <dcterms:modified xsi:type="dcterms:W3CDTF">2026-09-30T07:43:11Z</dcterms:modified>
</cp:coreProperties>
</file>