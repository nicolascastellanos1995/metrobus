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6" r:id="rId1"/>
    <p:sldMasterId id="2147483657" r:id="rId2"/>
  </p:sldMasterIdLst>
  <p:notesMasterIdLst>
    <p:notesMasterId r:id="rId13"/>
  </p:notesMasterIdLst>
  <p:sldIdLst>
    <p:sldId id="256" r:id="rId3"/>
    <p:sldId id="268" r:id="rId4"/>
    <p:sldId id="267" r:id="rId5"/>
    <p:sldId id="259" r:id="rId6"/>
    <p:sldId id="262" r:id="rId7"/>
    <p:sldId id="264" r:id="rId8"/>
    <p:sldId id="265" r:id="rId9"/>
    <p:sldId id="269" r:id="rId10"/>
    <p:sldId id="270" r:id="rId11"/>
    <p:sldId id="266" r:id="rId12"/>
  </p:sldIdLst>
  <p:sldSz cx="9144000" cy="5143500" type="screen16x9"/>
  <p:notesSz cx="6858000" cy="9144000"/>
  <p:embeddedFontLst>
    <p:embeddedFont>
      <p:font typeface="Poppins Light" panose="020B0604020202020204" charset="0"/>
      <p:regular r:id="rId14"/>
      <p:bold r:id="rId15"/>
      <p:italic r:id="rId16"/>
      <p:boldItalic r:id="rId17"/>
    </p:embeddedFont>
    <p:embeddedFont>
      <p:font typeface="Poppins SemiBold" panose="020B0604020202020204" charset="0"/>
      <p:regular r:id="rId18"/>
      <p:bold r:id="rId19"/>
      <p:italic r:id="rId20"/>
      <p:boldItalic r:id="rId21"/>
    </p:embeddedFont>
    <p:embeddedFont>
      <p:font typeface="Poppins" panose="020B0604020202020204"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2578" autoAdjust="0"/>
  </p:normalViewPr>
  <p:slideViewPr>
    <p:cSldViewPr snapToGrid="0">
      <p:cViewPr varScale="1">
        <p:scale>
          <a:sx n="120" d="100"/>
          <a:sy n="120" d="100"/>
        </p:scale>
        <p:origin x="374" y="4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font" Target="fonts/font8.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font" Target="fonts/font4.fntdata"/><Relationship Id="rId25" Type="http://schemas.openxmlformats.org/officeDocument/2006/relationships/font" Target="fonts/font12.fntdata"/><Relationship Id="rId2" Type="http://schemas.openxmlformats.org/officeDocument/2006/relationships/slideMaster" Target="slideMasters/slideMaster2.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11.fntdata"/><Relationship Id="rId5" Type="http://schemas.openxmlformats.org/officeDocument/2006/relationships/slide" Target="slides/slide3.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font" Target="fonts/font6.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
        <p:cNvGrpSpPr/>
        <p:nvPr/>
      </p:nvGrpSpPr>
      <p:grpSpPr>
        <a:xfrm>
          <a:off x="0" y="0"/>
          <a:ext cx="0" cy="0"/>
          <a:chOff x="0" y="0"/>
          <a:chExt cx="0" cy="0"/>
        </a:xfrm>
      </p:grpSpPr>
      <p:sp>
        <p:nvSpPr>
          <p:cNvPr id="21" name="Google Shape;21;g379a4c1cfc6_0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 name="Google Shape;22;g379a4c1cfc6_0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79a4c1cfc6_0_3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0" name="Google Shape;210;g379a4c1cfc6_0_3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990"/>
              <a:buFont typeface="Arial"/>
              <a:buNone/>
            </a:pPr>
            <a:endParaRPr sz="400"/>
          </a:p>
        </p:txBody>
      </p:sp>
    </p:spTree>
    <p:extLst>
      <p:ext uri="{BB962C8B-B14F-4D97-AF65-F5344CB8AC3E}">
        <p14:creationId xmlns:p14="http://schemas.microsoft.com/office/powerpoint/2010/main" val="12743967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79a4c1cfc6_0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379a4c1cfc6_0_3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tabla - columna del título, nível de la titulación -- FP, Grado, Master -- estimación de necesidades</a:t>
            </a:r>
            <a:endParaRPr/>
          </a:p>
        </p:txBody>
      </p:sp>
    </p:spTree>
    <p:extLst>
      <p:ext uri="{BB962C8B-B14F-4D97-AF65-F5344CB8AC3E}">
        <p14:creationId xmlns:p14="http://schemas.microsoft.com/office/powerpoint/2010/main" val="734729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79a4c1cfc6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79a4c1cfc6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79a4c1cfc6_0_3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379a4c1cfc6_0_3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79a4c1cfc6_0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379a4c1cfc6_0_3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tabla - columna del título, nível de la titulación -- FP, Grado, Master -- estimación de necesidades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79a4c1cfc6_0_3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0" name="Google Shape;210;g379a4c1cfc6_0_3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990"/>
              <a:buFont typeface="Arial"/>
              <a:buNone/>
            </a:pPr>
            <a:endParaRPr sz="4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79a4c1cfc6_0_3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0" name="Google Shape;210;g379a4c1cfc6_0_3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990"/>
              <a:buFont typeface="Arial"/>
              <a:buNone/>
            </a:pPr>
            <a:endParaRPr sz="400"/>
          </a:p>
        </p:txBody>
      </p:sp>
    </p:spTree>
    <p:extLst>
      <p:ext uri="{BB962C8B-B14F-4D97-AF65-F5344CB8AC3E}">
        <p14:creationId xmlns:p14="http://schemas.microsoft.com/office/powerpoint/2010/main" val="32817973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79a4c1cfc6_0_3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0" name="Google Shape;210;g379a4c1cfc6_0_3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990"/>
              <a:buFont typeface="Arial"/>
              <a:buNone/>
            </a:pPr>
            <a:endParaRPr sz="400"/>
          </a:p>
        </p:txBody>
      </p:sp>
    </p:spTree>
    <p:extLst>
      <p:ext uri="{BB962C8B-B14F-4D97-AF65-F5344CB8AC3E}">
        <p14:creationId xmlns:p14="http://schemas.microsoft.com/office/powerpoint/2010/main" val="26228917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79a4c1cfc6_0_4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79a4c1cfc6_0_4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Portada" type="title">
  <p:cSld name="TITLE">
    <p:bg>
      <p:bgPr>
        <a:solidFill>
          <a:schemeClr val="lt2"/>
        </a:solidFill>
        <a:effectLst/>
      </p:bgPr>
    </p:bg>
    <p:spTree>
      <p:nvGrpSpPr>
        <p:cNvPr id="1"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de seccion" type="secHead">
  <p:cSld name="SECTION_HEADER">
    <p:bg>
      <p:bgPr>
        <a:solidFill>
          <a:schemeClr val="lt2"/>
        </a:solidFill>
        <a:effectLst/>
      </p:bgPr>
    </p:bg>
    <p:spTree>
      <p:nvGrpSpPr>
        <p:cNvPr id="1" name="Shape 13"/>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Indice" type="tx">
  <p:cSld name="TITLE_AND_BODY">
    <p:bg>
      <p:bgPr>
        <a:solidFill>
          <a:schemeClr val="lt2"/>
        </a:solidFill>
        <a:effectLst/>
      </p:bgPr>
    </p:bg>
    <p:spTree>
      <p:nvGrpSpPr>
        <p:cNvPr id="1" name="Shape 14"/>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lt2"/>
        </a:solidFill>
        <a:effectLst/>
      </p:bgPr>
    </p:bg>
    <p:spTree>
      <p:nvGrpSpPr>
        <p:cNvPr id="1" name="Shape 15"/>
        <p:cNvGrpSpPr/>
        <p:nvPr/>
      </p:nvGrpSpPr>
      <p:grpSpPr>
        <a:xfrm>
          <a:off x="0" y="0"/>
          <a:ext cx="0" cy="0"/>
          <a:chOff x="0" y="0"/>
          <a:chExt cx="0" cy="0"/>
        </a:xfrm>
      </p:grpSpPr>
      <p:sp>
        <p:nvSpPr>
          <p:cNvPr id="16" name="Google Shape;16;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5. Blanco">
  <p:cSld name="5. Blanco">
    <p:bg>
      <p:bgPr>
        <a:solidFill>
          <a:schemeClr val="lt2"/>
        </a:solidFill>
        <a:effectLst/>
      </p:bgPr>
    </p:bg>
    <p:spTree>
      <p:nvGrpSpPr>
        <p:cNvPr id="1" name="Shape 17"/>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Diseño personalizado 1">
  <p:cSld name="CUSTOM">
    <p:bg>
      <p:bgPr>
        <a:solidFill>
          <a:schemeClr val="lt2"/>
        </a:solidFill>
        <a:effectLst/>
      </p:bgPr>
    </p:bg>
    <p:spTree>
      <p:nvGrpSpPr>
        <p:cNvPr id="1" name="Shape 18"/>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_1">
  <p:cSld name="TITLE_1">
    <p:bg>
      <p:bgPr>
        <a:solidFill>
          <a:schemeClr val="lt2"/>
        </a:solidFill>
        <a:effectLst/>
      </p:bgPr>
    </p:bg>
    <p:spTree>
      <p:nvGrpSpPr>
        <p:cNvPr id="1" name="Shape 1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4.xml"/><Relationship Id="rId7" Type="http://schemas.openxmlformats.org/officeDocument/2006/relationships/slideLayout" Target="../slideLayouts/slideLayout8.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
        <p:cNvGrpSpPr/>
        <p:nvPr/>
      </p:nvGrpSpPr>
      <p:grpSpPr>
        <a:xfrm>
          <a:off x="0" y="0"/>
          <a:ext cx="0" cy="0"/>
          <a:chOff x="0" y="0"/>
          <a:chExt cx="0" cy="0"/>
        </a:xfrm>
      </p:grpSpPr>
      <p:sp>
        <p:nvSpPr>
          <p:cNvPr id="11" name="Google Shape;11;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
        <p:cNvGrpSpPr/>
        <p:nvPr/>
      </p:nvGrpSpPr>
      <p:grpSpPr>
        <a:xfrm>
          <a:off x="0" y="0"/>
          <a:ext cx="0" cy="0"/>
          <a:chOff x="0" y="0"/>
          <a:chExt cx="0" cy="0"/>
        </a:xfrm>
      </p:grpSpPr>
      <p:pic>
        <p:nvPicPr>
          <p:cNvPr id="24" name="Google Shape;24;p11" title="portrait-of-happy-college-student-in-the-classroom-2024-12-13-17-08-26-utc.jpg"/>
          <p:cNvPicPr preferRelativeResize="0"/>
          <p:nvPr/>
        </p:nvPicPr>
        <p:blipFill rotWithShape="1">
          <a:blip r:embed="rId3">
            <a:alphaModFix/>
          </a:blip>
          <a:srcRect t="6247" b="6247"/>
          <a:stretch/>
        </p:blipFill>
        <p:spPr>
          <a:xfrm>
            <a:off x="0" y="-9300"/>
            <a:ext cx="9144003" cy="5333099"/>
          </a:xfrm>
          <a:prstGeom prst="rect">
            <a:avLst/>
          </a:prstGeom>
          <a:noFill/>
          <a:ln>
            <a:noFill/>
          </a:ln>
        </p:spPr>
      </p:pic>
      <p:sp>
        <p:nvSpPr>
          <p:cNvPr id="25" name="Google Shape;25;p11"/>
          <p:cNvSpPr/>
          <p:nvPr/>
        </p:nvSpPr>
        <p:spPr>
          <a:xfrm>
            <a:off x="0" y="0"/>
            <a:ext cx="9144000" cy="5333100"/>
          </a:xfrm>
          <a:prstGeom prst="rect">
            <a:avLst/>
          </a:prstGeom>
          <a:solidFill>
            <a:srgbClr val="152A1D">
              <a:alpha val="686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 name="Google Shape;26;p11"/>
          <p:cNvSpPr/>
          <p:nvPr/>
        </p:nvSpPr>
        <p:spPr>
          <a:xfrm rot="10800000">
            <a:off x="7782000" y="367900"/>
            <a:ext cx="952500" cy="826275"/>
          </a:xfrm>
          <a:custGeom>
            <a:avLst/>
            <a:gdLst/>
            <a:ahLst/>
            <a:cxnLst/>
            <a:rect l="l" t="t" r="r" b="b"/>
            <a:pathLst>
              <a:path w="38100" h="33051" extrusionOk="0">
                <a:moveTo>
                  <a:pt x="0" y="0"/>
                </a:moveTo>
                <a:lnTo>
                  <a:pt x="0" y="33051"/>
                </a:lnTo>
                <a:lnTo>
                  <a:pt x="38100" y="33051"/>
                </a:lnTo>
              </a:path>
            </a:pathLst>
          </a:custGeom>
          <a:noFill/>
          <a:ln w="28575" cap="flat" cmpd="sng">
            <a:solidFill>
              <a:srgbClr val="E6945A"/>
            </a:solidFill>
            <a:prstDash val="solid"/>
            <a:round/>
            <a:headEnd type="none" w="med" len="med"/>
            <a:tailEnd type="none" w="med" len="med"/>
          </a:ln>
        </p:spPr>
      </p:sp>
      <p:sp>
        <p:nvSpPr>
          <p:cNvPr id="27" name="Google Shape;27;p11"/>
          <p:cNvSpPr/>
          <p:nvPr/>
        </p:nvSpPr>
        <p:spPr>
          <a:xfrm>
            <a:off x="381075" y="3949313"/>
            <a:ext cx="952500" cy="826275"/>
          </a:xfrm>
          <a:custGeom>
            <a:avLst/>
            <a:gdLst/>
            <a:ahLst/>
            <a:cxnLst/>
            <a:rect l="l" t="t" r="r" b="b"/>
            <a:pathLst>
              <a:path w="38100" h="33051" extrusionOk="0">
                <a:moveTo>
                  <a:pt x="0" y="0"/>
                </a:moveTo>
                <a:lnTo>
                  <a:pt x="0" y="33051"/>
                </a:lnTo>
                <a:lnTo>
                  <a:pt x="38100" y="33051"/>
                </a:lnTo>
              </a:path>
            </a:pathLst>
          </a:custGeom>
          <a:noFill/>
          <a:ln w="28575" cap="flat" cmpd="sng">
            <a:solidFill>
              <a:srgbClr val="E6945A"/>
            </a:solidFill>
            <a:prstDash val="solid"/>
            <a:round/>
            <a:headEnd type="none" w="med" len="med"/>
            <a:tailEnd type="none" w="med" len="med"/>
          </a:ln>
        </p:spPr>
      </p:sp>
      <p:sp>
        <p:nvSpPr>
          <p:cNvPr id="28" name="Google Shape;28;p11"/>
          <p:cNvSpPr txBox="1"/>
          <p:nvPr/>
        </p:nvSpPr>
        <p:spPr>
          <a:xfrm>
            <a:off x="833400" y="2087703"/>
            <a:ext cx="8133300" cy="1241335"/>
          </a:xfrm>
          <a:prstGeom prst="rect">
            <a:avLst/>
          </a:prstGeom>
          <a:noFill/>
          <a:ln>
            <a:noFill/>
          </a:ln>
          <a:effectLst>
            <a:outerShdw blurRad="57150" dist="19050" dir="5400000" algn="bl" rotWithShape="0">
              <a:srgbClr val="000000">
                <a:alpha val="49410"/>
              </a:srgbClr>
            </a:outerShdw>
          </a:effectLst>
        </p:spPr>
        <p:txBody>
          <a:bodyPr spcFirstLastPara="1" wrap="square" lIns="91425" tIns="91425" rIns="91425" bIns="91425" anchor="t" anchorCtr="0">
            <a:spAutoFit/>
          </a:bodyPr>
          <a:lstStyle/>
          <a:p>
            <a:pPr marL="0" marR="38100" lvl="0" indent="0" algn="l" rtl="0">
              <a:lnSpc>
                <a:spcPct val="100000"/>
              </a:lnSpc>
              <a:spcBef>
                <a:spcPts val="700"/>
              </a:spcBef>
              <a:spcAft>
                <a:spcPts val="100"/>
              </a:spcAft>
              <a:buClr>
                <a:srgbClr val="000000"/>
              </a:buClr>
              <a:buSzPts val="6400"/>
              <a:buFont typeface="Arial"/>
              <a:buNone/>
            </a:pPr>
            <a:r>
              <a:rPr lang="es" sz="6200" dirty="0" smtClean="0">
                <a:solidFill>
                  <a:srgbClr val="FFFFFF"/>
                </a:solidFill>
                <a:latin typeface="Poppins SemiBold"/>
                <a:ea typeface="Poppins SemiBold"/>
                <a:cs typeface="Poppins SemiBold"/>
                <a:sym typeface="Poppins SemiBold"/>
              </a:rPr>
              <a:t>MetroBus</a:t>
            </a:r>
            <a:endParaRPr sz="6200" i="0" u="none" strike="noStrike" cap="none" dirty="0">
              <a:solidFill>
                <a:srgbClr val="FFFFFF"/>
              </a:solidFill>
              <a:latin typeface="Poppins SemiBold"/>
              <a:ea typeface="Poppins SemiBold"/>
              <a:cs typeface="Poppins SemiBold"/>
              <a:sym typeface="Poppins SemiBold"/>
            </a:endParaRPr>
          </a:p>
        </p:txBody>
      </p:sp>
      <p:pic>
        <p:nvPicPr>
          <p:cNvPr id="29" name="Google Shape;29;p11" title="logo blanco.png"/>
          <p:cNvPicPr preferRelativeResize="0"/>
          <p:nvPr/>
        </p:nvPicPr>
        <p:blipFill>
          <a:blip r:embed="rId4">
            <a:alphaModFix/>
          </a:blip>
          <a:stretch>
            <a:fillRect/>
          </a:stretch>
        </p:blipFill>
        <p:spPr>
          <a:xfrm>
            <a:off x="3335100" y="367900"/>
            <a:ext cx="2473800" cy="3001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21" name="Google Shape;221;p20"/>
          <p:cNvSpPr txBox="1"/>
          <p:nvPr/>
        </p:nvSpPr>
        <p:spPr>
          <a:xfrm>
            <a:off x="532122" y="157959"/>
            <a:ext cx="4731102" cy="127098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3300" dirty="0" smtClean="0">
                <a:solidFill>
                  <a:srgbClr val="1E3740"/>
                </a:solidFill>
                <a:latin typeface="Poppins Light"/>
                <a:ea typeface="Poppins Light"/>
                <a:cs typeface="Poppins Light"/>
                <a:sym typeface="Poppins Light"/>
              </a:rPr>
              <a:t>Objetivo de estudio</a:t>
            </a:r>
            <a:endParaRPr sz="3700" dirty="0">
              <a:solidFill>
                <a:srgbClr val="1E3740"/>
              </a:solidFill>
              <a:latin typeface="Poppins SemiBold"/>
              <a:ea typeface="Poppins SemiBold"/>
              <a:cs typeface="Poppins SemiBold"/>
              <a:sym typeface="Poppins SemiBold"/>
            </a:endParaRPr>
          </a:p>
        </p:txBody>
      </p:sp>
      <p:sp>
        <p:nvSpPr>
          <p:cNvPr id="222" name="Google Shape;222;p20"/>
          <p:cNvSpPr/>
          <p:nvPr/>
        </p:nvSpPr>
        <p:spPr>
          <a:xfrm>
            <a:off x="680074" y="981467"/>
            <a:ext cx="1388700" cy="35700"/>
          </a:xfrm>
          <a:prstGeom prst="rect">
            <a:avLst/>
          </a:prstGeom>
          <a:solidFill>
            <a:srgbClr val="E6945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 name="CuadroTexto 3"/>
          <p:cNvSpPr txBox="1"/>
          <p:nvPr/>
        </p:nvSpPr>
        <p:spPr>
          <a:xfrm>
            <a:off x="680074" y="1781394"/>
            <a:ext cx="7916012" cy="2308324"/>
          </a:xfrm>
          <a:prstGeom prst="rect">
            <a:avLst/>
          </a:prstGeom>
          <a:noFill/>
        </p:spPr>
        <p:txBody>
          <a:bodyPr wrap="square" rtlCol="0">
            <a:spAutoFit/>
          </a:bodyPr>
          <a:lstStyle/>
          <a:p>
            <a:r>
              <a:rPr lang="es-ES" sz="1800" dirty="0"/>
              <a:t>¿Dónde y cuándo se concentran los retrasos</a:t>
            </a:r>
            <a:r>
              <a:rPr lang="es-ES" sz="1800" dirty="0" smtClean="0"/>
              <a:t>?</a:t>
            </a:r>
          </a:p>
          <a:p>
            <a:endParaRPr lang="es-ES" sz="1800" dirty="0" smtClean="0"/>
          </a:p>
          <a:p>
            <a:r>
              <a:rPr lang="es-ES" sz="1800" dirty="0"/>
              <a:t>¿Qué incidencias generan mayor impacto</a:t>
            </a:r>
            <a:r>
              <a:rPr lang="es-ES" sz="1800" dirty="0" smtClean="0"/>
              <a:t>?</a:t>
            </a:r>
          </a:p>
          <a:p>
            <a:endParaRPr lang="es-ES" sz="1800" dirty="0" smtClean="0"/>
          </a:p>
          <a:p>
            <a:r>
              <a:rPr lang="es-ES" sz="1800" dirty="0"/>
              <a:t>¿Qué vehículos y mantenimientos afectan más a la disponibilidad y los costes</a:t>
            </a:r>
            <a:r>
              <a:rPr lang="es-ES" sz="1800" dirty="0" smtClean="0"/>
              <a:t>?</a:t>
            </a:r>
          </a:p>
          <a:p>
            <a:endParaRPr lang="es-ES" sz="1800" dirty="0"/>
          </a:p>
          <a:p>
            <a:r>
              <a:rPr lang="es-ES" sz="1800" dirty="0"/>
              <a:t>¿Cómo se distribuyen la actividad y las incidencias entre los conductores?</a:t>
            </a:r>
            <a:endParaRPr lang="es-ES" sz="1800" dirty="0"/>
          </a:p>
        </p:txBody>
      </p:sp>
    </p:spTree>
    <p:extLst>
      <p:ext uri="{BB962C8B-B14F-4D97-AF65-F5344CB8AC3E}">
        <p14:creationId xmlns:p14="http://schemas.microsoft.com/office/powerpoint/2010/main" val="952223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203" name="Google Shape;203;p19"/>
          <p:cNvSpPr txBox="1"/>
          <p:nvPr/>
        </p:nvSpPr>
        <p:spPr>
          <a:xfrm>
            <a:off x="578774" y="230775"/>
            <a:ext cx="6199915" cy="1326300"/>
          </a:xfrm>
          <a:prstGeom prst="rect">
            <a:avLst/>
          </a:prstGeom>
          <a:noFill/>
          <a:ln>
            <a:noFill/>
          </a:ln>
        </p:spPr>
        <p:txBody>
          <a:bodyPr spcFirstLastPara="1" wrap="square" lIns="91425" tIns="91425" rIns="91425" bIns="91425" anchor="t" anchorCtr="0">
            <a:noAutofit/>
          </a:bodyPr>
          <a:lstStyle/>
          <a:p>
            <a:pPr lvl="0"/>
            <a:r>
              <a:rPr lang="es-ES" sz="3300" dirty="0">
                <a:solidFill>
                  <a:srgbClr val="1E3740"/>
                </a:solidFill>
                <a:latin typeface="Poppins Light"/>
                <a:ea typeface="Poppins Light"/>
                <a:cs typeface="Poppins Light"/>
                <a:sym typeface="Poppins Light"/>
              </a:rPr>
              <a:t>¿Dónde se concentran los retrasos de la red?</a:t>
            </a:r>
            <a:endParaRPr sz="3700" dirty="0">
              <a:solidFill>
                <a:srgbClr val="1E3740"/>
              </a:solidFill>
              <a:latin typeface="Poppins SemiBold"/>
              <a:ea typeface="Poppins SemiBold"/>
              <a:cs typeface="Poppins SemiBold"/>
              <a:sym typeface="Poppins SemiBold"/>
            </a:endParaRPr>
          </a:p>
        </p:txBody>
      </p:sp>
      <p:sp>
        <p:nvSpPr>
          <p:cNvPr id="204" name="Google Shape;204;p19"/>
          <p:cNvSpPr/>
          <p:nvPr/>
        </p:nvSpPr>
        <p:spPr>
          <a:xfrm>
            <a:off x="703400" y="1410675"/>
            <a:ext cx="1388700" cy="35700"/>
          </a:xfrm>
          <a:prstGeom prst="rect">
            <a:avLst/>
          </a:prstGeom>
          <a:solidFill>
            <a:srgbClr val="E6945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 name="Rectángulo 1"/>
          <p:cNvSpPr/>
          <p:nvPr/>
        </p:nvSpPr>
        <p:spPr>
          <a:xfrm>
            <a:off x="4425809" y="1797374"/>
            <a:ext cx="4310743" cy="3293209"/>
          </a:xfrm>
          <a:prstGeom prst="rect">
            <a:avLst/>
          </a:prstGeom>
        </p:spPr>
        <p:txBody>
          <a:bodyPr wrap="square">
            <a:spAutoFit/>
          </a:bodyPr>
          <a:lstStyle/>
          <a:p>
            <a:r>
              <a:rPr lang="es-ES" sz="1600" dirty="0"/>
              <a:t>Durante la </a:t>
            </a:r>
            <a:r>
              <a:rPr lang="es-ES" sz="1600" b="1" dirty="0"/>
              <a:t>hora punta de mañana</a:t>
            </a:r>
            <a:r>
              <a:rPr lang="es-ES" sz="1600" dirty="0"/>
              <a:t>, la línea </a:t>
            </a:r>
            <a:r>
              <a:rPr lang="es-ES" sz="1600" b="1" dirty="0"/>
              <a:t>L1</a:t>
            </a:r>
            <a:r>
              <a:rPr lang="es-ES" sz="1600" dirty="0"/>
              <a:t> presenta sus mayores retrasos en </a:t>
            </a:r>
            <a:r>
              <a:rPr lang="es-ES" sz="1600" b="1" dirty="0"/>
              <a:t>Barrio Sur 2</a:t>
            </a:r>
            <a:r>
              <a:rPr lang="es-ES" sz="1600" dirty="0"/>
              <a:t>, con </a:t>
            </a:r>
            <a:r>
              <a:rPr lang="es-ES" sz="1600" b="1" dirty="0"/>
              <a:t>11,6 minutos</a:t>
            </a:r>
            <a:r>
              <a:rPr lang="es-ES" sz="1600" dirty="0"/>
              <a:t>, y </a:t>
            </a:r>
            <a:r>
              <a:rPr lang="es-ES" sz="1600" b="1" dirty="0"/>
              <a:t>Barrio Sur 13</a:t>
            </a:r>
            <a:r>
              <a:rPr lang="es-ES" sz="1600" dirty="0"/>
              <a:t>, con </a:t>
            </a:r>
            <a:r>
              <a:rPr lang="es-ES" sz="1600" b="1" dirty="0"/>
              <a:t>10,1 minutos</a:t>
            </a:r>
            <a:r>
              <a:rPr lang="es-ES" sz="1600" dirty="0"/>
              <a:t>. </a:t>
            </a:r>
          </a:p>
          <a:p>
            <a:r>
              <a:rPr lang="es-ES" sz="1600" dirty="0"/>
              <a:t>En la </a:t>
            </a:r>
            <a:r>
              <a:rPr lang="es-ES" sz="1600" b="1" dirty="0"/>
              <a:t>hora punta de tarde</a:t>
            </a:r>
            <a:r>
              <a:rPr lang="es-ES" sz="1600" dirty="0"/>
              <a:t>, destaca la parada </a:t>
            </a:r>
            <a:r>
              <a:rPr lang="es-ES" sz="1600" b="1" dirty="0"/>
              <a:t>Aeropuerto 19</a:t>
            </a:r>
            <a:r>
              <a:rPr lang="es-ES" sz="1600" dirty="0"/>
              <a:t>, con un retraso medio de aproximadamente </a:t>
            </a:r>
            <a:r>
              <a:rPr lang="es-ES" sz="1600" b="1" dirty="0"/>
              <a:t>9 minutos</a:t>
            </a:r>
            <a:r>
              <a:rPr lang="es-ES" sz="1600" dirty="0" smtClean="0"/>
              <a:t>.</a:t>
            </a:r>
          </a:p>
          <a:p>
            <a:endParaRPr lang="es-ES" sz="1600" dirty="0"/>
          </a:p>
          <a:p>
            <a:r>
              <a:rPr lang="es-ES" sz="1600" dirty="0" smtClean="0"/>
              <a:t>Los </a:t>
            </a:r>
            <a:r>
              <a:rPr lang="es-ES" sz="1600" dirty="0"/>
              <a:t>retrasos </a:t>
            </a:r>
            <a:r>
              <a:rPr lang="es-ES" sz="1600" b="1" dirty="0"/>
              <a:t>no se distribuyen de forma uniforme durante el día</a:t>
            </a:r>
            <a:r>
              <a:rPr lang="es-ES" sz="1600" dirty="0"/>
              <a:t>, sino que aparecen puntos críticos diferentes según el periodo analizado.</a:t>
            </a:r>
          </a:p>
          <a:p>
            <a:pPr lvl="0"/>
            <a:endParaRPr lang="es-ES" sz="1600" dirty="0">
              <a:solidFill>
                <a:srgbClr val="1E3740"/>
              </a:solidFill>
              <a:latin typeface="Poppins SemiBold"/>
              <a:ea typeface="Poppins SemiBold"/>
              <a:cs typeface="Poppins SemiBold"/>
              <a:sym typeface="Poppins SemiBold"/>
            </a:endParaRPr>
          </a:p>
        </p:txBody>
      </p:sp>
      <p:pic>
        <p:nvPicPr>
          <p:cNvPr id="4" name="Imagen 3"/>
          <p:cNvPicPr>
            <a:picLocks noChangeAspect="1"/>
          </p:cNvPicPr>
          <p:nvPr/>
        </p:nvPicPr>
        <p:blipFill>
          <a:blip r:embed="rId3"/>
          <a:stretch>
            <a:fillRect/>
          </a:stretch>
        </p:blipFill>
        <p:spPr>
          <a:xfrm>
            <a:off x="630404" y="1797374"/>
            <a:ext cx="3157372" cy="1521874"/>
          </a:xfrm>
          <a:prstGeom prst="rect">
            <a:avLst/>
          </a:prstGeom>
        </p:spPr>
      </p:pic>
      <p:pic>
        <p:nvPicPr>
          <p:cNvPr id="7" name="Imagen 6"/>
          <p:cNvPicPr>
            <a:picLocks noChangeAspect="1"/>
          </p:cNvPicPr>
          <p:nvPr/>
        </p:nvPicPr>
        <p:blipFill>
          <a:blip r:embed="rId4"/>
          <a:stretch>
            <a:fillRect/>
          </a:stretch>
        </p:blipFill>
        <p:spPr>
          <a:xfrm>
            <a:off x="630404" y="3394531"/>
            <a:ext cx="3157372" cy="1543604"/>
          </a:xfrm>
          <a:prstGeom prst="rect">
            <a:avLst/>
          </a:prstGeom>
        </p:spPr>
      </p:pic>
    </p:spTree>
    <p:extLst>
      <p:ext uri="{BB962C8B-B14F-4D97-AF65-F5344CB8AC3E}">
        <p14:creationId xmlns:p14="http://schemas.microsoft.com/office/powerpoint/2010/main" val="268615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68"/>
        <p:cNvGrpSpPr/>
        <p:nvPr/>
      </p:nvGrpSpPr>
      <p:grpSpPr>
        <a:xfrm>
          <a:off x="0" y="0"/>
          <a:ext cx="0" cy="0"/>
          <a:chOff x="0" y="0"/>
          <a:chExt cx="0" cy="0"/>
        </a:xfrm>
      </p:grpSpPr>
      <p:sp>
        <p:nvSpPr>
          <p:cNvPr id="69" name="Google Shape;69;p14"/>
          <p:cNvSpPr txBox="1"/>
          <p:nvPr/>
        </p:nvSpPr>
        <p:spPr>
          <a:xfrm>
            <a:off x="2546221" y="1230024"/>
            <a:ext cx="7674900" cy="397001"/>
          </a:xfrm>
          <a:prstGeom prst="rect">
            <a:avLst/>
          </a:prstGeom>
          <a:noFill/>
          <a:ln>
            <a:noFill/>
          </a:ln>
        </p:spPr>
        <p:txBody>
          <a:bodyPr spcFirstLastPara="1" wrap="square" lIns="91425" tIns="91425" rIns="91425" bIns="91425" anchor="t" anchorCtr="0">
            <a:spAutoFit/>
          </a:bodyPr>
          <a:lstStyle/>
          <a:p>
            <a:pPr lvl="0">
              <a:lnSpc>
                <a:spcPct val="115000"/>
              </a:lnSpc>
              <a:buClr>
                <a:schemeClr val="dk1"/>
              </a:buClr>
              <a:buSzPts val="1100"/>
            </a:pPr>
            <a:r>
              <a:rPr lang="es-ES" sz="1200" dirty="0"/>
              <a:t>La frecuencia de una incidencia no determina su impacto económico</a:t>
            </a:r>
            <a:endParaRPr sz="1800" dirty="0">
              <a:solidFill>
                <a:srgbClr val="223C45"/>
              </a:solidFill>
              <a:latin typeface="Poppins"/>
              <a:ea typeface="Poppins"/>
              <a:cs typeface="Poppins"/>
              <a:sym typeface="Poppins"/>
            </a:endParaRPr>
          </a:p>
        </p:txBody>
      </p:sp>
      <p:sp>
        <p:nvSpPr>
          <p:cNvPr id="70" name="Google Shape;70;p14"/>
          <p:cNvSpPr txBox="1"/>
          <p:nvPr/>
        </p:nvSpPr>
        <p:spPr>
          <a:xfrm>
            <a:off x="802289" y="3651007"/>
            <a:ext cx="4562813" cy="1451136"/>
          </a:xfrm>
          <a:prstGeom prst="rect">
            <a:avLst/>
          </a:prstGeom>
          <a:noFill/>
          <a:ln>
            <a:noFill/>
          </a:ln>
        </p:spPr>
        <p:txBody>
          <a:bodyPr spcFirstLastPara="1" wrap="square" lIns="91425" tIns="91425" rIns="91425" bIns="91425" anchor="t" anchorCtr="0">
            <a:noAutofit/>
          </a:bodyPr>
          <a:lstStyle/>
          <a:p>
            <a:pPr lvl="0">
              <a:lnSpc>
                <a:spcPct val="115000"/>
              </a:lnSpc>
            </a:pPr>
            <a:r>
              <a:rPr lang="es-ES" sz="1200" dirty="0" smtClean="0"/>
              <a:t>Las condiciones meteorológicas son el tipo de incidencia más frecuente, mientras que los accidentes graves concentran claramente el mayor coste estimado. Los datos no permiten identificar el concepto que explica este coste.</a:t>
            </a:r>
            <a:endParaRPr sz="1000" dirty="0">
              <a:solidFill>
                <a:srgbClr val="1E3740"/>
              </a:solidFill>
              <a:latin typeface="Poppins Light"/>
              <a:ea typeface="Poppins Light"/>
              <a:cs typeface="Poppins Light"/>
              <a:sym typeface="Poppins Light"/>
            </a:endParaRPr>
          </a:p>
        </p:txBody>
      </p:sp>
      <p:sp>
        <p:nvSpPr>
          <p:cNvPr id="71" name="Google Shape;71;p14"/>
          <p:cNvSpPr txBox="1"/>
          <p:nvPr/>
        </p:nvSpPr>
        <p:spPr>
          <a:xfrm>
            <a:off x="596674" y="509080"/>
            <a:ext cx="8084700" cy="975423"/>
          </a:xfrm>
          <a:prstGeom prst="rect">
            <a:avLst/>
          </a:prstGeom>
          <a:noFill/>
          <a:ln>
            <a:noFill/>
          </a:ln>
        </p:spPr>
        <p:txBody>
          <a:bodyPr spcFirstLastPara="1" wrap="square" lIns="91425" tIns="91425" rIns="91425" bIns="91425" anchor="t" anchorCtr="0">
            <a:noAutofit/>
          </a:bodyPr>
          <a:lstStyle/>
          <a:p>
            <a:r>
              <a:rPr lang="es-ES" sz="3200" dirty="0"/>
              <a:t>¿Qué incidencias generan mayor impacto?</a:t>
            </a:r>
          </a:p>
        </p:txBody>
      </p:sp>
      <p:sp>
        <p:nvSpPr>
          <p:cNvPr id="72" name="Google Shape;72;p14"/>
          <p:cNvSpPr/>
          <p:nvPr/>
        </p:nvSpPr>
        <p:spPr>
          <a:xfrm>
            <a:off x="703400" y="1410675"/>
            <a:ext cx="1388700" cy="35700"/>
          </a:xfrm>
          <a:prstGeom prst="rect">
            <a:avLst/>
          </a:prstGeom>
          <a:solidFill>
            <a:srgbClr val="E6945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3" name="Google Shape;73;p14" title="logo verdee.png"/>
          <p:cNvPicPr preferRelativeResize="0"/>
          <p:nvPr/>
        </p:nvPicPr>
        <p:blipFill rotWithShape="1">
          <a:blip r:embed="rId3">
            <a:alphaModFix/>
          </a:blip>
          <a:srcRect/>
          <a:stretch/>
        </p:blipFill>
        <p:spPr>
          <a:xfrm>
            <a:off x="7728875" y="4736263"/>
            <a:ext cx="952499" cy="115542"/>
          </a:xfrm>
          <a:prstGeom prst="rect">
            <a:avLst/>
          </a:prstGeom>
          <a:noFill/>
          <a:ln>
            <a:noFill/>
          </a:ln>
        </p:spPr>
      </p:pic>
      <p:pic>
        <p:nvPicPr>
          <p:cNvPr id="2" name="Imagen 1"/>
          <p:cNvPicPr>
            <a:picLocks noChangeAspect="1"/>
          </p:cNvPicPr>
          <p:nvPr/>
        </p:nvPicPr>
        <p:blipFill>
          <a:blip r:embed="rId4"/>
          <a:stretch>
            <a:fillRect/>
          </a:stretch>
        </p:blipFill>
        <p:spPr>
          <a:xfrm>
            <a:off x="5430416" y="3163078"/>
            <a:ext cx="3316273" cy="1715810"/>
          </a:xfrm>
          <a:prstGeom prst="rect">
            <a:avLst/>
          </a:prstGeom>
        </p:spPr>
      </p:pic>
      <p:pic>
        <p:nvPicPr>
          <p:cNvPr id="3" name="Imagen 2"/>
          <p:cNvPicPr>
            <a:picLocks noChangeAspect="1"/>
          </p:cNvPicPr>
          <p:nvPr/>
        </p:nvPicPr>
        <p:blipFill>
          <a:blip r:embed="rId5"/>
          <a:stretch>
            <a:fillRect/>
          </a:stretch>
        </p:blipFill>
        <p:spPr>
          <a:xfrm>
            <a:off x="802289" y="1678843"/>
            <a:ext cx="4179354" cy="1724461"/>
          </a:xfrm>
          <a:prstGeom prst="rect">
            <a:avLst/>
          </a:prstGeom>
        </p:spPr>
      </p:pic>
      <p:sp>
        <p:nvSpPr>
          <p:cNvPr id="9" name="Google Shape;70;p14"/>
          <p:cNvSpPr txBox="1"/>
          <p:nvPr/>
        </p:nvSpPr>
        <p:spPr>
          <a:xfrm>
            <a:off x="5150498" y="1790876"/>
            <a:ext cx="3671596" cy="1612427"/>
          </a:xfrm>
          <a:prstGeom prst="rect">
            <a:avLst/>
          </a:prstGeom>
          <a:noFill/>
          <a:ln>
            <a:noFill/>
          </a:ln>
        </p:spPr>
        <p:txBody>
          <a:bodyPr spcFirstLastPara="1" wrap="square" lIns="91425" tIns="91425" rIns="91425" bIns="91425" anchor="t" anchorCtr="0">
            <a:noAutofit/>
          </a:bodyPr>
          <a:lstStyle/>
          <a:p>
            <a:pPr lvl="0">
              <a:lnSpc>
                <a:spcPct val="115000"/>
              </a:lnSpc>
            </a:pPr>
            <a:r>
              <a:rPr lang="es-ES" sz="1050" dirty="0"/>
              <a:t>Las incidencias por cada 1.000 viajes presentan diferencias moderadas entre líneas, con valores aproximados entre 75 y 84. Esto indica que las incidencias no se concentran exclusivamente en una única línea, aunque algunas presentan una tasa ligeramente superior.</a:t>
            </a:r>
            <a:endParaRPr sz="1050" dirty="0">
              <a:solidFill>
                <a:srgbClr val="1E3740"/>
              </a:solidFill>
              <a:latin typeface="Poppins Light"/>
              <a:ea typeface="Poppins Light"/>
              <a:cs typeface="Poppins Light"/>
              <a:sym typeface="Poppi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125"/>
        <p:cNvGrpSpPr/>
        <p:nvPr/>
      </p:nvGrpSpPr>
      <p:grpSpPr>
        <a:xfrm>
          <a:off x="0" y="0"/>
          <a:ext cx="0" cy="0"/>
          <a:chOff x="0" y="0"/>
          <a:chExt cx="0" cy="0"/>
        </a:xfrm>
      </p:grpSpPr>
      <p:sp>
        <p:nvSpPr>
          <p:cNvPr id="143" name="Google Shape;143;p17"/>
          <p:cNvSpPr txBox="1"/>
          <p:nvPr/>
        </p:nvSpPr>
        <p:spPr>
          <a:xfrm>
            <a:off x="667944" y="1401758"/>
            <a:ext cx="3514500" cy="1326300"/>
          </a:xfrm>
          <a:prstGeom prst="rect">
            <a:avLst/>
          </a:prstGeom>
          <a:noFill/>
          <a:ln>
            <a:noFill/>
          </a:ln>
        </p:spPr>
        <p:txBody>
          <a:bodyPr spcFirstLastPara="1" wrap="square" lIns="91425" tIns="91425" rIns="91425" bIns="91425" anchor="t" anchorCtr="0">
            <a:noAutofit/>
          </a:bodyPr>
          <a:lstStyle/>
          <a:p>
            <a:pPr lvl="0"/>
            <a:r>
              <a:rPr lang="es-ES" sz="1600" dirty="0" smtClean="0"/>
              <a:t>Los autobuses eléctricos muestran un coste/km ligeramente superior.</a:t>
            </a:r>
            <a:endParaRPr sz="1600" dirty="0">
              <a:solidFill>
                <a:srgbClr val="1E3740"/>
              </a:solidFill>
              <a:latin typeface="Poppins SemiBold"/>
              <a:ea typeface="Poppins SemiBold"/>
              <a:cs typeface="Poppins SemiBold"/>
              <a:sym typeface="Poppins SemiBold"/>
            </a:endParaRPr>
          </a:p>
        </p:txBody>
      </p:sp>
      <p:sp>
        <p:nvSpPr>
          <p:cNvPr id="144" name="Google Shape;144;p17"/>
          <p:cNvSpPr/>
          <p:nvPr/>
        </p:nvSpPr>
        <p:spPr>
          <a:xfrm>
            <a:off x="694070" y="967471"/>
            <a:ext cx="1388700" cy="35700"/>
          </a:xfrm>
          <a:prstGeom prst="rect">
            <a:avLst/>
          </a:prstGeom>
          <a:solidFill>
            <a:srgbClr val="E6945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69" name="Google Shape;169;p17" title="logo blanco.png"/>
          <p:cNvPicPr preferRelativeResize="0"/>
          <p:nvPr/>
        </p:nvPicPr>
        <p:blipFill>
          <a:blip r:embed="rId3">
            <a:alphaModFix/>
          </a:blip>
          <a:stretch>
            <a:fillRect/>
          </a:stretch>
        </p:blipFill>
        <p:spPr>
          <a:xfrm>
            <a:off x="7728875" y="4736263"/>
            <a:ext cx="952499" cy="115542"/>
          </a:xfrm>
          <a:prstGeom prst="rect">
            <a:avLst/>
          </a:prstGeom>
          <a:noFill/>
          <a:ln>
            <a:noFill/>
          </a:ln>
        </p:spPr>
      </p:pic>
      <p:pic>
        <p:nvPicPr>
          <p:cNvPr id="2" name="Imagen 1"/>
          <p:cNvPicPr>
            <a:picLocks noChangeAspect="1"/>
          </p:cNvPicPr>
          <p:nvPr/>
        </p:nvPicPr>
        <p:blipFill>
          <a:blip r:embed="rId4"/>
          <a:stretch>
            <a:fillRect/>
          </a:stretch>
        </p:blipFill>
        <p:spPr>
          <a:xfrm>
            <a:off x="726727" y="2561253"/>
            <a:ext cx="3069494" cy="2175010"/>
          </a:xfrm>
          <a:prstGeom prst="rect">
            <a:avLst/>
          </a:prstGeom>
        </p:spPr>
      </p:pic>
      <p:sp>
        <p:nvSpPr>
          <p:cNvPr id="3" name="Rectangle 1"/>
          <p:cNvSpPr>
            <a:spLocks noChangeArrowheads="1"/>
          </p:cNvSpPr>
          <p:nvPr/>
        </p:nvSpPr>
        <p:spPr bwMode="auto">
          <a:xfrm>
            <a:off x="530376" y="504162"/>
            <a:ext cx="77380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dirty="0" smtClean="0">
                <a:ln>
                  <a:noFill/>
                </a:ln>
                <a:solidFill>
                  <a:schemeClr val="tx1"/>
                </a:solidFill>
                <a:effectLst/>
                <a:latin typeface="+mn-lt"/>
              </a:rPr>
              <a:t>¿Qué vehículos y mantenimientos generan mayor impacto sobre la flota? </a:t>
            </a:r>
          </a:p>
        </p:txBody>
      </p:sp>
      <p:pic>
        <p:nvPicPr>
          <p:cNvPr id="4" name="Imagen 3"/>
          <p:cNvPicPr>
            <a:picLocks noChangeAspect="1"/>
          </p:cNvPicPr>
          <p:nvPr/>
        </p:nvPicPr>
        <p:blipFill>
          <a:blip r:embed="rId5"/>
          <a:stretch>
            <a:fillRect/>
          </a:stretch>
        </p:blipFill>
        <p:spPr>
          <a:xfrm>
            <a:off x="4459434" y="1503566"/>
            <a:ext cx="3951312" cy="1790855"/>
          </a:xfrm>
          <a:prstGeom prst="rect">
            <a:avLst/>
          </a:prstGeom>
        </p:spPr>
      </p:pic>
      <p:sp>
        <p:nvSpPr>
          <p:cNvPr id="9" name="Google Shape;143;p17"/>
          <p:cNvSpPr txBox="1"/>
          <p:nvPr/>
        </p:nvSpPr>
        <p:spPr>
          <a:xfrm>
            <a:off x="4020094" y="3409963"/>
            <a:ext cx="4829992" cy="1326300"/>
          </a:xfrm>
          <a:prstGeom prst="rect">
            <a:avLst/>
          </a:prstGeom>
          <a:noFill/>
          <a:ln>
            <a:noFill/>
          </a:ln>
        </p:spPr>
        <p:txBody>
          <a:bodyPr spcFirstLastPara="1" wrap="square" lIns="91425" tIns="91425" rIns="91425" bIns="91425" anchor="t" anchorCtr="0">
            <a:noAutofit/>
          </a:bodyPr>
          <a:lstStyle/>
          <a:p>
            <a:pPr lvl="0"/>
            <a:r>
              <a:rPr lang="es-ES" sz="1600" dirty="0" smtClean="0"/>
              <a:t>Los mantenimientos preventivos son la principal causa de los servicios.</a:t>
            </a:r>
          </a:p>
          <a:p>
            <a:pPr lvl="0"/>
            <a:endParaRPr lang="es-ES" sz="1600" dirty="0"/>
          </a:p>
          <a:p>
            <a:pPr lvl="0"/>
            <a:r>
              <a:rPr lang="es-ES" sz="1600" dirty="0" smtClean="0"/>
              <a:t>Las reparaciones de motor son las que generan mayor impacto en la flota</a:t>
            </a:r>
          </a:p>
          <a:p>
            <a:pPr lvl="0"/>
            <a:endParaRPr lang="es-ES" sz="1600" dirty="0">
              <a:solidFill>
                <a:srgbClr val="1E3740"/>
              </a:solidFill>
              <a:latin typeface="Poppins SemiBold"/>
              <a:ea typeface="Poppins SemiBold"/>
              <a:cs typeface="Poppins SemiBold"/>
              <a:sym typeface="Poppins SemiBold"/>
            </a:endParaRPr>
          </a:p>
          <a:p>
            <a:pPr lvl="0"/>
            <a:endParaRPr sz="1600" dirty="0">
              <a:solidFill>
                <a:srgbClr val="1E3740"/>
              </a:solidFill>
              <a:latin typeface="Poppins SemiBold"/>
              <a:ea typeface="Poppins SemiBold"/>
              <a:cs typeface="Poppins SemiBold"/>
              <a:sym typeface="Poppins SemiBo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189"/>
        <p:cNvGrpSpPr/>
        <p:nvPr/>
      </p:nvGrpSpPr>
      <p:grpSpPr>
        <a:xfrm>
          <a:off x="0" y="0"/>
          <a:ext cx="0" cy="0"/>
          <a:chOff x="0" y="0"/>
          <a:chExt cx="0" cy="0"/>
        </a:xfrm>
      </p:grpSpPr>
      <p:sp>
        <p:nvSpPr>
          <p:cNvPr id="203" name="Google Shape;203;p19"/>
          <p:cNvSpPr txBox="1"/>
          <p:nvPr/>
        </p:nvSpPr>
        <p:spPr>
          <a:xfrm>
            <a:off x="550783" y="207644"/>
            <a:ext cx="8261980" cy="668656"/>
          </a:xfrm>
          <a:prstGeom prst="rect">
            <a:avLst/>
          </a:prstGeom>
          <a:noFill/>
          <a:ln>
            <a:noFill/>
          </a:ln>
        </p:spPr>
        <p:txBody>
          <a:bodyPr spcFirstLastPara="1" wrap="square" lIns="91425" tIns="91425" rIns="91425" bIns="91425" anchor="t" anchorCtr="0">
            <a:noAutofit/>
          </a:bodyPr>
          <a:lstStyle/>
          <a:p>
            <a:r>
              <a:rPr lang="es-ES" sz="1800" dirty="0"/>
              <a:t>¿Cómo se distribuyen la actividad y las incidencias entre los conductores?</a:t>
            </a:r>
            <a:endParaRPr lang="es-ES" sz="1800" dirty="0"/>
          </a:p>
        </p:txBody>
      </p:sp>
      <p:sp>
        <p:nvSpPr>
          <p:cNvPr id="204" name="Google Shape;204;p19"/>
          <p:cNvSpPr/>
          <p:nvPr/>
        </p:nvSpPr>
        <p:spPr>
          <a:xfrm>
            <a:off x="684350" y="766150"/>
            <a:ext cx="1388700" cy="35700"/>
          </a:xfrm>
          <a:prstGeom prst="rect">
            <a:avLst/>
          </a:prstGeom>
          <a:solidFill>
            <a:srgbClr val="E6945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 name="Rectangle 3"/>
          <p:cNvSpPr>
            <a:spLocks noChangeArrowheads="1"/>
          </p:cNvSpPr>
          <p:nvPr/>
        </p:nvSpPr>
        <p:spPr bwMode="auto">
          <a:xfrm>
            <a:off x="5190152" y="1702483"/>
            <a:ext cx="2864498" cy="1231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i="0" u="none" strike="noStrike" cap="none" normalizeH="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es-ES" altLang="es-ES" dirty="0" smtClean="0">
                <a:solidFill>
                  <a:schemeClr val="tx1"/>
                </a:solidFill>
                <a:latin typeface="Arial" panose="020B0604020202020204" pitchFamily="34" charset="0"/>
              </a:rPr>
              <a:t>En promedio un conductor realiza cerca de 600 viajes al año y tiene entre 45 y 50 incidentes.</a:t>
            </a:r>
            <a:endParaRPr kumimoji="0" lang="es-ES" altLang="es-ES"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i="0" u="none" strike="noStrike" cap="none" normalizeH="0" baseline="0" dirty="0" smtClean="0">
              <a:ln>
                <a:noFill/>
              </a:ln>
              <a:solidFill>
                <a:schemeClr val="tx1"/>
              </a:solidFill>
              <a:effectLst/>
              <a:latin typeface="Arial" panose="020B0604020202020204" pitchFamily="34" charset="0"/>
            </a:endParaRPr>
          </a:p>
        </p:txBody>
      </p:sp>
      <p:pic>
        <p:nvPicPr>
          <p:cNvPr id="7" name="Imagen 6"/>
          <p:cNvPicPr>
            <a:picLocks noChangeAspect="1"/>
          </p:cNvPicPr>
          <p:nvPr/>
        </p:nvPicPr>
        <p:blipFill>
          <a:blip r:embed="rId3"/>
          <a:stretch>
            <a:fillRect/>
          </a:stretch>
        </p:blipFill>
        <p:spPr>
          <a:xfrm>
            <a:off x="3998166" y="3228393"/>
            <a:ext cx="4772609" cy="1730852"/>
          </a:xfrm>
          <a:prstGeom prst="rect">
            <a:avLst/>
          </a:prstGeom>
        </p:spPr>
      </p:pic>
      <p:sp>
        <p:nvSpPr>
          <p:cNvPr id="8" name="Rectángulo 7"/>
          <p:cNvSpPr/>
          <p:nvPr/>
        </p:nvSpPr>
        <p:spPr>
          <a:xfrm>
            <a:off x="830424" y="3684955"/>
            <a:ext cx="2841171" cy="954107"/>
          </a:xfrm>
          <a:prstGeom prst="rect">
            <a:avLst/>
          </a:prstGeom>
        </p:spPr>
        <p:txBody>
          <a:bodyPr wrap="square">
            <a:spAutoFit/>
          </a:bodyPr>
          <a:lstStyle/>
          <a:p>
            <a:r>
              <a:rPr lang="es-ES" dirty="0"/>
              <a:t>Beatriz Ortega registra la mayor tasa de incidencias por cada 100 viajes pese a pertenecer al grupo de mayor antigüedad.</a:t>
            </a:r>
          </a:p>
        </p:txBody>
      </p:sp>
      <p:pic>
        <p:nvPicPr>
          <p:cNvPr id="9" name="Imagen 8"/>
          <p:cNvPicPr>
            <a:picLocks noChangeAspect="1"/>
          </p:cNvPicPr>
          <p:nvPr/>
        </p:nvPicPr>
        <p:blipFill>
          <a:blip r:embed="rId4"/>
          <a:stretch>
            <a:fillRect/>
          </a:stretch>
        </p:blipFill>
        <p:spPr>
          <a:xfrm>
            <a:off x="415554" y="1581991"/>
            <a:ext cx="4273079" cy="1500248"/>
          </a:xfrm>
          <a:prstGeom prst="rect">
            <a:avLst/>
          </a:prstGeom>
        </p:spPr>
      </p:pic>
      <p:pic>
        <p:nvPicPr>
          <p:cNvPr id="2" name="Imagen 1"/>
          <p:cNvPicPr>
            <a:picLocks noChangeAspect="1"/>
          </p:cNvPicPr>
          <p:nvPr/>
        </p:nvPicPr>
        <p:blipFill>
          <a:blip r:embed="rId5"/>
          <a:stretch>
            <a:fillRect/>
          </a:stretch>
        </p:blipFill>
        <p:spPr>
          <a:xfrm>
            <a:off x="2909969" y="712552"/>
            <a:ext cx="1771804" cy="533446"/>
          </a:xfrm>
          <a:prstGeom prst="rect">
            <a:avLst/>
          </a:prstGeom>
        </p:spPr>
      </p:pic>
      <p:pic>
        <p:nvPicPr>
          <p:cNvPr id="3" name="Imagen 2"/>
          <p:cNvPicPr>
            <a:picLocks noChangeAspect="1"/>
          </p:cNvPicPr>
          <p:nvPr/>
        </p:nvPicPr>
        <p:blipFill>
          <a:blip r:embed="rId6"/>
          <a:stretch>
            <a:fillRect/>
          </a:stretch>
        </p:blipFill>
        <p:spPr>
          <a:xfrm>
            <a:off x="4869649" y="712552"/>
            <a:ext cx="1752752" cy="552498"/>
          </a:xfrm>
          <a:prstGeom prst="rect">
            <a:avLst/>
          </a:prstGeom>
        </p:spPr>
      </p:pic>
      <p:pic>
        <p:nvPicPr>
          <p:cNvPr id="5" name="Imagen 4"/>
          <p:cNvPicPr>
            <a:picLocks noChangeAspect="1"/>
          </p:cNvPicPr>
          <p:nvPr/>
        </p:nvPicPr>
        <p:blipFill>
          <a:blip r:embed="rId7"/>
          <a:stretch>
            <a:fillRect/>
          </a:stretch>
        </p:blipFill>
        <p:spPr>
          <a:xfrm>
            <a:off x="6781088" y="704931"/>
            <a:ext cx="1760373" cy="56011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11"/>
        <p:cNvGrpSpPr/>
        <p:nvPr/>
      </p:nvGrpSpPr>
      <p:grpSpPr>
        <a:xfrm>
          <a:off x="0" y="0"/>
          <a:ext cx="0" cy="0"/>
          <a:chOff x="0" y="0"/>
          <a:chExt cx="0" cy="0"/>
        </a:xfrm>
      </p:grpSpPr>
      <p:sp>
        <p:nvSpPr>
          <p:cNvPr id="221" name="Google Shape;221;p20"/>
          <p:cNvSpPr txBox="1"/>
          <p:nvPr/>
        </p:nvSpPr>
        <p:spPr>
          <a:xfrm>
            <a:off x="532122" y="157959"/>
            <a:ext cx="3514500" cy="1326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3300" dirty="0" smtClean="0">
                <a:solidFill>
                  <a:srgbClr val="1E3740"/>
                </a:solidFill>
                <a:latin typeface="Poppins Light"/>
                <a:ea typeface="Poppins Light"/>
                <a:cs typeface="Poppins Light"/>
                <a:sym typeface="Poppins Light"/>
              </a:rPr>
              <a:t>Conclusiones</a:t>
            </a:r>
            <a:endParaRPr sz="3700" dirty="0">
              <a:solidFill>
                <a:srgbClr val="1E3740"/>
              </a:solidFill>
              <a:latin typeface="Poppins SemiBold"/>
              <a:ea typeface="Poppins SemiBold"/>
              <a:cs typeface="Poppins SemiBold"/>
              <a:sym typeface="Poppins SemiBold"/>
            </a:endParaRPr>
          </a:p>
        </p:txBody>
      </p:sp>
      <p:sp>
        <p:nvSpPr>
          <p:cNvPr id="222" name="Google Shape;222;p20"/>
          <p:cNvSpPr/>
          <p:nvPr/>
        </p:nvSpPr>
        <p:spPr>
          <a:xfrm>
            <a:off x="680074" y="981467"/>
            <a:ext cx="1388700" cy="35700"/>
          </a:xfrm>
          <a:prstGeom prst="rect">
            <a:avLst/>
          </a:prstGeom>
          <a:solidFill>
            <a:srgbClr val="E6945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 name="CuadroTexto 3"/>
          <p:cNvSpPr txBox="1"/>
          <p:nvPr/>
        </p:nvSpPr>
        <p:spPr>
          <a:xfrm>
            <a:off x="611155" y="1147665"/>
            <a:ext cx="8038323" cy="3970318"/>
          </a:xfrm>
          <a:prstGeom prst="rect">
            <a:avLst/>
          </a:prstGeom>
          <a:noFill/>
        </p:spPr>
        <p:txBody>
          <a:bodyPr wrap="square" rtlCol="0">
            <a:spAutoFit/>
          </a:bodyPr>
          <a:lstStyle/>
          <a:p>
            <a:r>
              <a:rPr lang="es-ES" b="1" dirty="0"/>
              <a:t>Frecuencia e impacto económico de las incidencias no coinciden.</a:t>
            </a:r>
            <a:r>
              <a:rPr lang="es-ES" dirty="0"/>
              <a:t> Las condiciones meteorológicas son las incidencias más frecuentes, mientras que los </a:t>
            </a:r>
            <a:r>
              <a:rPr lang="es-ES" b="1" dirty="0"/>
              <a:t>accidentes graves concentran el mayor coste estimado</a:t>
            </a:r>
            <a:r>
              <a:rPr lang="es-ES" dirty="0"/>
              <a:t>, con aproximadamente </a:t>
            </a:r>
            <a:r>
              <a:rPr lang="es-ES" b="1" dirty="0"/>
              <a:t>2,78 </a:t>
            </a:r>
            <a:r>
              <a:rPr lang="es-ES" b="1" dirty="0" smtClean="0"/>
              <a:t>M€</a:t>
            </a:r>
            <a:r>
              <a:rPr lang="es-ES" dirty="0" smtClean="0"/>
              <a:t>.</a:t>
            </a:r>
          </a:p>
          <a:p>
            <a:endParaRPr lang="es-ES" dirty="0"/>
          </a:p>
          <a:p>
            <a:r>
              <a:rPr lang="es-ES" b="1" dirty="0"/>
              <a:t>El mantenimiento afecta de forma desigual a la disponibilidad de la flota.</a:t>
            </a:r>
            <a:r>
              <a:rPr lang="es-ES" dirty="0"/>
              <a:t> Las </a:t>
            </a:r>
            <a:r>
              <a:rPr lang="es-ES" b="1" dirty="0"/>
              <a:t>reparaciones de motor</a:t>
            </a:r>
            <a:r>
              <a:rPr lang="es-ES" dirty="0"/>
              <a:t> son las intervenciones con mayor impacto operativo, acumulando </a:t>
            </a:r>
            <a:r>
              <a:rPr lang="es-ES" b="1" dirty="0"/>
              <a:t>208 días en 2024</a:t>
            </a:r>
            <a:r>
              <a:rPr lang="es-ES" dirty="0"/>
              <a:t>, muy por encima del resto</a:t>
            </a:r>
            <a:r>
              <a:rPr lang="es-ES" dirty="0" smtClean="0"/>
              <a:t>.</a:t>
            </a:r>
          </a:p>
          <a:p>
            <a:endParaRPr lang="es-ES" dirty="0" smtClean="0"/>
          </a:p>
          <a:p>
            <a:r>
              <a:rPr lang="es-ES" b="1" dirty="0" smtClean="0"/>
              <a:t>Los </a:t>
            </a:r>
            <a:r>
              <a:rPr lang="es-ES" b="1" dirty="0"/>
              <a:t>retrasos presentan puntos críticos específicos según el momento del día.</a:t>
            </a:r>
            <a:r>
              <a:rPr lang="es-ES" dirty="0"/>
              <a:t> En hora punta de mañana destacan la </a:t>
            </a:r>
            <a:r>
              <a:rPr lang="es-ES" b="1" dirty="0"/>
              <a:t>L1 en Barrio Sur 2 (11,6 min) y Barrio Sur 13 (10,1 min)</a:t>
            </a:r>
            <a:r>
              <a:rPr lang="es-ES" dirty="0"/>
              <a:t>, mientras que en la punta de tarde destaca </a:t>
            </a:r>
            <a:r>
              <a:rPr lang="es-ES" b="1" dirty="0"/>
              <a:t>Aeropuerto 19 (9 min)</a:t>
            </a:r>
            <a:r>
              <a:rPr lang="es-ES" dirty="0"/>
              <a:t>. Por tanto, el promedio general puede ocultar problemas localizados</a:t>
            </a:r>
            <a:r>
              <a:rPr lang="es-ES" dirty="0" smtClean="0"/>
              <a:t>.</a:t>
            </a:r>
          </a:p>
          <a:p>
            <a:endParaRPr lang="es-ES" dirty="0"/>
          </a:p>
          <a:p>
            <a:r>
              <a:rPr lang="es-ES" b="1" dirty="0"/>
              <a:t>La experiencia de los conductores no muestra por sí sola una relación directa con una menor tasa de incidencias.</a:t>
            </a:r>
            <a:r>
              <a:rPr lang="es-ES" dirty="0"/>
              <a:t> </a:t>
            </a:r>
            <a:r>
              <a:rPr lang="es-ES" b="1" dirty="0"/>
              <a:t>Beatriz Ortega</a:t>
            </a:r>
            <a:r>
              <a:rPr lang="es-ES" dirty="0"/>
              <a:t>, perteneciente al grupo de mayor antigüedad, presenta la mayor tasa de incidencias por cada 100 viajes. Las incidencias asociadas no implican necesariamente responsabilidad del conductor.</a:t>
            </a:r>
            <a:endParaRPr lang="es-ES" dirty="0"/>
          </a:p>
          <a:p>
            <a:endParaRPr lang="es-E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21" name="Google Shape;221;p20"/>
          <p:cNvSpPr txBox="1"/>
          <p:nvPr/>
        </p:nvSpPr>
        <p:spPr>
          <a:xfrm>
            <a:off x="532122" y="157959"/>
            <a:ext cx="4255778" cy="1326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3300" dirty="0" smtClean="0">
                <a:solidFill>
                  <a:srgbClr val="1E3740"/>
                </a:solidFill>
                <a:latin typeface="Poppins Light"/>
                <a:ea typeface="Poppins Light"/>
                <a:cs typeface="Poppins Light"/>
                <a:sym typeface="Poppins Light"/>
              </a:rPr>
              <a:t>Recomendaciones</a:t>
            </a:r>
            <a:endParaRPr sz="3700" dirty="0">
              <a:solidFill>
                <a:srgbClr val="1E3740"/>
              </a:solidFill>
              <a:latin typeface="Poppins SemiBold"/>
              <a:ea typeface="Poppins SemiBold"/>
              <a:cs typeface="Poppins SemiBold"/>
              <a:sym typeface="Poppins SemiBold"/>
            </a:endParaRPr>
          </a:p>
        </p:txBody>
      </p:sp>
      <p:sp>
        <p:nvSpPr>
          <p:cNvPr id="222" name="Google Shape;222;p20"/>
          <p:cNvSpPr/>
          <p:nvPr/>
        </p:nvSpPr>
        <p:spPr>
          <a:xfrm>
            <a:off x="680074" y="981467"/>
            <a:ext cx="1388700" cy="35700"/>
          </a:xfrm>
          <a:prstGeom prst="rect">
            <a:avLst/>
          </a:prstGeom>
          <a:solidFill>
            <a:srgbClr val="E6945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 name="CuadroTexto 3"/>
          <p:cNvSpPr txBox="1"/>
          <p:nvPr/>
        </p:nvSpPr>
        <p:spPr>
          <a:xfrm>
            <a:off x="611155" y="1147665"/>
            <a:ext cx="8038323" cy="3754874"/>
          </a:xfrm>
          <a:prstGeom prst="rect">
            <a:avLst/>
          </a:prstGeom>
          <a:noFill/>
        </p:spPr>
        <p:txBody>
          <a:bodyPr wrap="square" rtlCol="0">
            <a:spAutoFit/>
          </a:bodyPr>
          <a:lstStyle/>
          <a:p>
            <a:r>
              <a:rPr lang="es-ES" dirty="0"/>
              <a:t>Priorizar el seguimiento de las combinaciones </a:t>
            </a:r>
            <a:r>
              <a:rPr lang="es-ES" b="1" dirty="0"/>
              <a:t>línea + parada + franja horaria</a:t>
            </a:r>
            <a:r>
              <a:rPr lang="es-ES" dirty="0"/>
              <a:t> con mayores retrasos, especialmente los puntos identificados en las horas punta. Esto evita tomar decisiones basadas únicamente en el retraso promedio de toda la red.</a:t>
            </a:r>
            <a:endParaRPr lang="es-ES" dirty="0"/>
          </a:p>
          <a:p>
            <a:endParaRPr lang="es-ES" dirty="0" smtClean="0"/>
          </a:p>
          <a:p>
            <a:r>
              <a:rPr lang="es-ES" dirty="0"/>
              <a:t>Evaluar las incidencias utilizando conjuntamente </a:t>
            </a:r>
            <a:r>
              <a:rPr lang="es-ES" b="1" dirty="0"/>
              <a:t>número de eventos y coste estimado</a:t>
            </a:r>
            <a:r>
              <a:rPr lang="es-ES" dirty="0"/>
              <a:t>. Las incidencias frecuentes requieren seguimiento operativo, mientras que eventos menos frecuentes pero de elevado coste, como los accidentes graves, requieren medidas específicas de prevención y gestión del riesgo.</a:t>
            </a:r>
            <a:endParaRPr lang="es-ES" dirty="0" smtClean="0"/>
          </a:p>
          <a:p>
            <a:endParaRPr lang="es-ES" dirty="0"/>
          </a:p>
          <a:p>
            <a:r>
              <a:rPr lang="es-ES" dirty="0"/>
              <a:t>Reforzar el mantenimiento preventivo y el seguimiento de los vehículos que concentran mayores costes, prestando especial atención a las </a:t>
            </a:r>
            <a:r>
              <a:rPr lang="es-ES" b="1" dirty="0"/>
              <a:t>reparaciones de motor</a:t>
            </a:r>
            <a:r>
              <a:rPr lang="es-ES" dirty="0"/>
              <a:t>, ya que son las que acumulan más días fuera de servicio.</a:t>
            </a:r>
            <a:endParaRPr lang="es-ES" dirty="0"/>
          </a:p>
          <a:p>
            <a:endParaRPr lang="es-ES" dirty="0" smtClean="0"/>
          </a:p>
          <a:p>
            <a:r>
              <a:rPr lang="es-ES" dirty="0"/>
              <a:t>Monitorizar la </a:t>
            </a:r>
            <a:r>
              <a:rPr lang="es-ES" b="1" dirty="0"/>
              <a:t>tasa de incidencias por cada 100 viajes</a:t>
            </a:r>
            <a:r>
              <a:rPr lang="es-ES" dirty="0"/>
              <a:t> en lugar del número absoluto, incorporando también el tipo de incidencia, línea, turno y condiciones operativas antes de atribuir diferencias al conductor.</a:t>
            </a:r>
            <a:endParaRPr lang="es-ES" dirty="0"/>
          </a:p>
          <a:p>
            <a:endParaRPr lang="es-ES" dirty="0"/>
          </a:p>
        </p:txBody>
      </p:sp>
    </p:spTree>
    <p:extLst>
      <p:ext uri="{BB962C8B-B14F-4D97-AF65-F5344CB8AC3E}">
        <p14:creationId xmlns:p14="http://schemas.microsoft.com/office/powerpoint/2010/main" val="693601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21" name="Google Shape;221;p20"/>
          <p:cNvSpPr txBox="1"/>
          <p:nvPr/>
        </p:nvSpPr>
        <p:spPr>
          <a:xfrm>
            <a:off x="532122" y="157959"/>
            <a:ext cx="6846578" cy="1326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3300" dirty="0" smtClean="0">
                <a:solidFill>
                  <a:srgbClr val="1E3740"/>
                </a:solidFill>
                <a:latin typeface="Poppins Light"/>
                <a:ea typeface="Poppins Light"/>
                <a:cs typeface="Poppins Light"/>
                <a:sym typeface="Poppins Light"/>
              </a:rPr>
              <a:t>Limitaciones y próximos Pasos</a:t>
            </a:r>
            <a:endParaRPr sz="3700" dirty="0">
              <a:solidFill>
                <a:srgbClr val="1E3740"/>
              </a:solidFill>
              <a:latin typeface="Poppins SemiBold"/>
              <a:ea typeface="Poppins SemiBold"/>
              <a:cs typeface="Poppins SemiBold"/>
              <a:sym typeface="Poppins SemiBold"/>
            </a:endParaRPr>
          </a:p>
        </p:txBody>
      </p:sp>
      <p:sp>
        <p:nvSpPr>
          <p:cNvPr id="222" name="Google Shape;222;p20"/>
          <p:cNvSpPr/>
          <p:nvPr/>
        </p:nvSpPr>
        <p:spPr>
          <a:xfrm>
            <a:off x="680074" y="981467"/>
            <a:ext cx="1388700" cy="35700"/>
          </a:xfrm>
          <a:prstGeom prst="rect">
            <a:avLst/>
          </a:prstGeom>
          <a:solidFill>
            <a:srgbClr val="E6945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 name="CuadroTexto 3"/>
          <p:cNvSpPr txBox="1"/>
          <p:nvPr/>
        </p:nvSpPr>
        <p:spPr>
          <a:xfrm>
            <a:off x="604805" y="1176482"/>
            <a:ext cx="8038323" cy="3323987"/>
          </a:xfrm>
          <a:prstGeom prst="rect">
            <a:avLst/>
          </a:prstGeom>
          <a:noFill/>
        </p:spPr>
        <p:txBody>
          <a:bodyPr wrap="square" rtlCol="0">
            <a:spAutoFit/>
          </a:bodyPr>
          <a:lstStyle/>
          <a:p>
            <a:r>
              <a:rPr lang="es-ES" b="1" dirty="0"/>
              <a:t>Limitaciones del </a:t>
            </a:r>
            <a:r>
              <a:rPr lang="es-ES" b="1" dirty="0" smtClean="0"/>
              <a:t>análisis</a:t>
            </a:r>
          </a:p>
          <a:p>
            <a:endParaRPr lang="es-ES" b="1" dirty="0" smtClean="0"/>
          </a:p>
          <a:p>
            <a:r>
              <a:rPr lang="es-ES" dirty="0"/>
              <a:t>El consumo no permite comparar directamente la eficiencia entre tipos de combustible si las </a:t>
            </a:r>
            <a:r>
              <a:rPr lang="es-ES" b="1" dirty="0"/>
              <a:t>unidades de consumo no son equivalentes</a:t>
            </a:r>
            <a:r>
              <a:rPr lang="es-ES" dirty="0"/>
              <a:t> entre vehículos eléctricos, diésel e híbridos</a:t>
            </a:r>
            <a:r>
              <a:rPr lang="es-ES" dirty="0" smtClean="0"/>
              <a:t>.</a:t>
            </a:r>
          </a:p>
          <a:p>
            <a:endParaRPr lang="es-ES" b="1" dirty="0"/>
          </a:p>
          <a:p>
            <a:r>
              <a:rPr lang="es-ES" dirty="0"/>
              <a:t>La tarifa disponible corresponde a la </a:t>
            </a:r>
            <a:r>
              <a:rPr lang="es-ES" b="1" dirty="0"/>
              <a:t>tarifa predominante del viaje</a:t>
            </a:r>
            <a:r>
              <a:rPr lang="es-ES" dirty="0"/>
              <a:t>, no a la tarifa individual de cada pasajero; por tanto, cualquier cálculo de ingresos debe interpretarse como una </a:t>
            </a:r>
            <a:r>
              <a:rPr lang="es-ES" b="1" dirty="0"/>
              <a:t>estimación</a:t>
            </a:r>
            <a:r>
              <a:rPr lang="es-ES" dirty="0" smtClean="0"/>
              <a:t>.</a:t>
            </a:r>
          </a:p>
          <a:p>
            <a:endParaRPr lang="es-ES" b="1" dirty="0"/>
          </a:p>
          <a:p>
            <a:r>
              <a:rPr lang="es-ES" b="1" dirty="0"/>
              <a:t>Próximos </a:t>
            </a:r>
            <a:r>
              <a:rPr lang="es-ES" b="1" dirty="0" smtClean="0"/>
              <a:t>pasos</a:t>
            </a:r>
          </a:p>
          <a:p>
            <a:endParaRPr lang="es-ES" b="1" dirty="0"/>
          </a:p>
          <a:p>
            <a:r>
              <a:rPr lang="es-ES" dirty="0"/>
              <a:t>Analizar tiempos reales entre paradas para localizar con mayor precisión </a:t>
            </a:r>
            <a:r>
              <a:rPr lang="es-ES" b="1" dirty="0"/>
              <a:t>en qué tramos de cada línea se generan los retrasos</a:t>
            </a:r>
            <a:r>
              <a:rPr lang="es-ES" dirty="0" smtClean="0"/>
              <a:t>.</a:t>
            </a:r>
          </a:p>
          <a:p>
            <a:endParaRPr lang="es-ES" b="1" dirty="0"/>
          </a:p>
          <a:p>
            <a:r>
              <a:rPr lang="es-ES" dirty="0"/>
              <a:t>Incorporar historial de averías, kilometraje y componentes para desarrollar indicadores orientados al </a:t>
            </a:r>
            <a:r>
              <a:rPr lang="es-ES" b="1" dirty="0"/>
              <a:t>mantenimiento predictivo</a:t>
            </a:r>
            <a:r>
              <a:rPr lang="es-ES" dirty="0"/>
              <a:t>.</a:t>
            </a:r>
            <a:endParaRPr lang="es-ES" b="1" dirty="0"/>
          </a:p>
        </p:txBody>
      </p:sp>
    </p:spTree>
    <p:extLst>
      <p:ext uri="{BB962C8B-B14F-4D97-AF65-F5344CB8AC3E}">
        <p14:creationId xmlns:p14="http://schemas.microsoft.com/office/powerpoint/2010/main" val="35456648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21" title="female-college-student-looking-back-at-camera-walk-2025-01-10-03-12-56-utc.jpg"/>
          <p:cNvPicPr preferRelativeResize="0"/>
          <p:nvPr/>
        </p:nvPicPr>
        <p:blipFill rotWithShape="1">
          <a:blip r:embed="rId3">
            <a:alphaModFix/>
          </a:blip>
          <a:srcRect t="6247" b="6247"/>
          <a:stretch/>
        </p:blipFill>
        <p:spPr>
          <a:xfrm>
            <a:off x="0" y="-9300"/>
            <a:ext cx="9144003" cy="5333099"/>
          </a:xfrm>
          <a:prstGeom prst="rect">
            <a:avLst/>
          </a:prstGeom>
          <a:noFill/>
          <a:ln>
            <a:noFill/>
          </a:ln>
        </p:spPr>
      </p:pic>
      <p:sp>
        <p:nvSpPr>
          <p:cNvPr id="228" name="Google Shape;228;p21"/>
          <p:cNvSpPr/>
          <p:nvPr/>
        </p:nvSpPr>
        <p:spPr>
          <a:xfrm>
            <a:off x="0" y="-9300"/>
            <a:ext cx="9144000" cy="5333100"/>
          </a:xfrm>
          <a:prstGeom prst="rect">
            <a:avLst/>
          </a:prstGeom>
          <a:solidFill>
            <a:srgbClr val="152A1D">
              <a:alpha val="686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9" name="Google Shape;229;p21"/>
          <p:cNvSpPr/>
          <p:nvPr/>
        </p:nvSpPr>
        <p:spPr>
          <a:xfrm rot="10800000">
            <a:off x="7782000" y="367900"/>
            <a:ext cx="952500" cy="826275"/>
          </a:xfrm>
          <a:custGeom>
            <a:avLst/>
            <a:gdLst/>
            <a:ahLst/>
            <a:cxnLst/>
            <a:rect l="l" t="t" r="r" b="b"/>
            <a:pathLst>
              <a:path w="38100" h="33051" extrusionOk="0">
                <a:moveTo>
                  <a:pt x="0" y="0"/>
                </a:moveTo>
                <a:lnTo>
                  <a:pt x="0" y="33051"/>
                </a:lnTo>
                <a:lnTo>
                  <a:pt x="38100" y="33051"/>
                </a:lnTo>
              </a:path>
            </a:pathLst>
          </a:custGeom>
          <a:noFill/>
          <a:ln w="28575" cap="flat" cmpd="sng">
            <a:solidFill>
              <a:srgbClr val="E6945A"/>
            </a:solidFill>
            <a:prstDash val="solid"/>
            <a:round/>
            <a:headEnd type="none" w="med" len="med"/>
            <a:tailEnd type="none" w="med" len="med"/>
          </a:ln>
        </p:spPr>
      </p:sp>
      <p:sp>
        <p:nvSpPr>
          <p:cNvPr id="230" name="Google Shape;230;p21"/>
          <p:cNvSpPr/>
          <p:nvPr/>
        </p:nvSpPr>
        <p:spPr>
          <a:xfrm>
            <a:off x="381075" y="3949313"/>
            <a:ext cx="952500" cy="826275"/>
          </a:xfrm>
          <a:custGeom>
            <a:avLst/>
            <a:gdLst/>
            <a:ahLst/>
            <a:cxnLst/>
            <a:rect l="l" t="t" r="r" b="b"/>
            <a:pathLst>
              <a:path w="38100" h="33051" extrusionOk="0">
                <a:moveTo>
                  <a:pt x="0" y="0"/>
                </a:moveTo>
                <a:lnTo>
                  <a:pt x="0" y="33051"/>
                </a:lnTo>
                <a:lnTo>
                  <a:pt x="38100" y="33051"/>
                </a:lnTo>
              </a:path>
            </a:pathLst>
          </a:custGeom>
          <a:noFill/>
          <a:ln w="28575" cap="flat" cmpd="sng">
            <a:solidFill>
              <a:srgbClr val="E6945A"/>
            </a:solidFill>
            <a:prstDash val="solid"/>
            <a:round/>
            <a:headEnd type="none" w="med" len="med"/>
            <a:tailEnd type="none" w="med" len="med"/>
          </a:ln>
        </p:spPr>
      </p:sp>
      <p:pic>
        <p:nvPicPr>
          <p:cNvPr id="231" name="Google Shape;231;p21" title="logo blanco.png"/>
          <p:cNvPicPr preferRelativeResize="0"/>
          <p:nvPr/>
        </p:nvPicPr>
        <p:blipFill>
          <a:blip r:embed="rId4">
            <a:alphaModFix/>
          </a:blip>
          <a:stretch>
            <a:fillRect/>
          </a:stretch>
        </p:blipFill>
        <p:spPr>
          <a:xfrm>
            <a:off x="2587638" y="2331025"/>
            <a:ext cx="3968725" cy="4814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152A1D"/>
      </a:dk1>
      <a:lt1>
        <a:srgbClr val="FFFFFF"/>
      </a:lt1>
      <a:dk2>
        <a:srgbClr val="595959"/>
      </a:dk2>
      <a:lt2>
        <a:srgbClr val="EEEEEE"/>
      </a:lt2>
      <a:accent1>
        <a:srgbClr val="E6945A"/>
      </a:accent1>
      <a:accent2>
        <a:srgbClr val="212121"/>
      </a:accent2>
      <a:accent3>
        <a:srgbClr val="78909C"/>
      </a:accent3>
      <a:accent4>
        <a:srgbClr val="FFAB40"/>
      </a:accent4>
      <a:accent5>
        <a:srgbClr val="E6945A"/>
      </a:accent5>
      <a:accent6>
        <a:srgbClr val="E6945A"/>
      </a:accent6>
      <a:hlink>
        <a:srgbClr val="E6945A"/>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281</TotalTime>
  <Words>822</Words>
  <Application>Microsoft Office PowerPoint</Application>
  <PresentationFormat>Presentación en pantalla (16:9)</PresentationFormat>
  <Paragraphs>57</Paragraphs>
  <Slides>10</Slides>
  <Notes>10</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10</vt:i4>
      </vt:variant>
    </vt:vector>
  </HeadingPairs>
  <TitlesOfParts>
    <vt:vector size="16" baseType="lpstr">
      <vt:lpstr>Poppins Light</vt:lpstr>
      <vt:lpstr>Arial</vt:lpstr>
      <vt:lpstr>Poppins SemiBold</vt:lpstr>
      <vt:lpstr>Poppins</vt:lpstr>
      <vt:lpstr>Simple Light</vt: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Nicolas CAstellanos</dc:creator>
  <cp:lastModifiedBy>Nicolas CAstellanos</cp:lastModifiedBy>
  <cp:revision>23</cp:revision>
  <dcterms:modified xsi:type="dcterms:W3CDTF">2026-09-30T07:43:11Z</dcterms:modified>
</cp:coreProperties>
</file>